
<file path=[Content_Types].xml><?xml version="1.0" encoding="utf-8"?>
<Types xmlns="http://schemas.openxmlformats.org/package/2006/content-types">
  <Default Extension="emf" ContentType="image/x-emf"/>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6" r:id="rId2"/>
    <p:sldId id="256" r:id="rId3"/>
    <p:sldId id="267" r:id="rId4"/>
    <p:sldId id="268" r:id="rId5"/>
    <p:sldId id="257" r:id="rId6"/>
    <p:sldId id="258" r:id="rId7"/>
    <p:sldId id="259" r:id="rId8"/>
    <p:sldId id="260" r:id="rId9"/>
    <p:sldId id="261" r:id="rId10"/>
    <p:sldId id="262" r:id="rId11"/>
    <p:sldId id="263" r:id="rId12"/>
    <p:sldId id="264" r:id="rId13"/>
    <p:sldId id="269"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4204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User-provided UI screenshot used on this slide (local upload).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Project scope and selected action classes are based on the user’s project decisions in this conversation.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KTH official dataset page lists the six action classes used here. Source: https://www.csc.kth.se/cvap/actions/,- OpenCV documentation states VideoCapture can read video files. Source: https://docs.opencv.org/4.x/dd/d43/tutorial_py_video_display.html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OpenCV VideoCapture is used for reading video files frame-by-frame. Source: https://docs.opencv.org/4.x/dd/d43/tutorial_py_video_display.html,- Keras provides an official example for video classification with a CNN-RNN architecture. Source: https://keras.io/examples/vision/video_classification/,- Flask file-upload pattern documentation describes the upload-and-serve workflow used by the UI. Source: https://flask.palletsprojects.com/en/stable/patterns/fileuploads/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User-provided screenshot of the working Flask UI used on this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User-provided frame from a difficult uploaded test video used on this slide.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Status items summarize the implementation and testing completed in this conversation.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Improvement ideas reflect issues discovered during implementation and testing in this conversation.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5B7CFA"/>
          </a:solidFill>
          <a:ln w="12700">
            <a:solidFill>
              <a:srgbClr val="5B7CFA"/>
            </a:solidFill>
            <a:prstDash val="solid"/>
          </a:ln>
        </p:spPr>
      </p:sp>
      <p:sp>
        <p:nvSpPr>
          <p:cNvPr id="3" name="Text 1"/>
          <p:cNvSpPr/>
          <p:nvPr/>
        </p:nvSpPr>
        <p:spPr>
          <a:xfrm>
            <a:off x="411480" y="6473952"/>
            <a:ext cx="4114800" cy="182880"/>
          </a:xfrm>
          <a:prstGeom prst="rect">
            <a:avLst/>
          </a:prstGeom>
          <a:noFill/>
          <a:ln/>
        </p:spPr>
        <p:txBody>
          <a:bodyPr wrap="square" lIns="0" tIns="0" rIns="0" bIns="0" rtlCol="0" anchor="ctr"/>
          <a:lstStyle/>
          <a:p>
            <a:pPr marL="0" indent="0">
              <a:buNone/>
            </a:pPr>
            <a:r>
              <a:rPr lang="en-US" sz="900" dirty="0">
                <a:solidFill>
                  <a:srgbClr val="9AA7C2"/>
                </a:solidFill>
              </a:rPr>
              <a:t>Human Action Recognition Project</a:t>
            </a:r>
            <a:endParaRPr lang="en-US" sz="900" dirty="0"/>
          </a:p>
        </p:txBody>
      </p:sp>
      <p:sp>
        <p:nvSpPr>
          <p:cNvPr id="4" name="Text 2"/>
          <p:cNvSpPr/>
          <p:nvPr/>
        </p:nvSpPr>
        <p:spPr>
          <a:xfrm>
            <a:off x="9509760" y="6473952"/>
            <a:ext cx="2194560" cy="182880"/>
          </a:xfrm>
          <a:prstGeom prst="rect">
            <a:avLst/>
          </a:prstGeom>
          <a:noFill/>
          <a:ln/>
        </p:spPr>
        <p:txBody>
          <a:bodyPr wrap="square" lIns="0" tIns="0" rIns="0" bIns="0" rtlCol="0" anchor="ctr"/>
          <a:lstStyle/>
          <a:p>
            <a:pPr marL="0" indent="0" algn="r">
              <a:buNone/>
            </a:pPr>
            <a:r>
              <a:rPr lang="en-US" sz="900" dirty="0">
                <a:solidFill>
                  <a:srgbClr val="9AA7C2"/>
                </a:solidFill>
              </a:rPr>
              <a:t>Prepared summary deck</a:t>
            </a:r>
            <a:endParaRPr lang="en-US" sz="900" dirty="0"/>
          </a:p>
        </p:txBody>
      </p:sp>
      <p:sp>
        <p:nvSpPr>
          <p:cNvPr id="25" name="Slide Number Placeholder 0"/>
          <p:cNvSpPr>
            <a:spLocks noGrp="1"/>
          </p:cNvSpPr>
          <p:nvPr>
            <p:ph type="sldNum" sz="quarter" idx="4294967295"/>
          </p:nvPr>
        </p:nvSpPr>
        <p:spPr>
          <a:xfrm>
            <a:off x="11795760" y="6446520"/>
            <a:ext cx="22860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9AA7C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95760" y="6446520"/>
            <a:ext cx="22860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9AA7C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Anandcvv05/human-activity-recognition-project.gi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F300F88-2DC9-A926-41D1-EF2F29375A7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7443" y="1"/>
            <a:ext cx="11086948" cy="1388011"/>
          </a:xfrm>
          <a:prstGeom prst="rect">
            <a:avLst/>
          </a:prstGeom>
          <a:noFill/>
          <a:ln>
            <a:noFill/>
          </a:ln>
        </p:spPr>
      </p:pic>
      <p:sp>
        <p:nvSpPr>
          <p:cNvPr id="4" name="TextBox 3">
            <a:extLst>
              <a:ext uri="{FF2B5EF4-FFF2-40B4-BE49-F238E27FC236}">
                <a16:creationId xmlns:a16="http://schemas.microsoft.com/office/drawing/2014/main" id="{BB7EAF77-8E2F-ACB7-DB7D-13B17AFCAD56}"/>
              </a:ext>
            </a:extLst>
          </p:cNvPr>
          <p:cNvSpPr txBox="1"/>
          <p:nvPr/>
        </p:nvSpPr>
        <p:spPr>
          <a:xfrm>
            <a:off x="2419643" y="1377032"/>
            <a:ext cx="6096000" cy="461665"/>
          </a:xfrm>
          <a:prstGeom prst="rect">
            <a:avLst/>
          </a:prstGeom>
          <a:noFill/>
        </p:spPr>
        <p:txBody>
          <a:bodyPr wrap="square">
            <a:spAutoFit/>
          </a:bodyPr>
          <a:lstStyle/>
          <a:p>
            <a:pPr algn="ctr"/>
            <a:r>
              <a:rPr lang="en-IN" sz="2400" b="1" dirty="0">
                <a:latin typeface="Times New Roman" pitchFamily="18" charset="0"/>
                <a:cs typeface="Times New Roman" pitchFamily="18" charset="0"/>
              </a:rPr>
              <a:t>Team ID COEPCL-0080</a:t>
            </a:r>
          </a:p>
        </p:txBody>
      </p:sp>
      <p:sp>
        <p:nvSpPr>
          <p:cNvPr id="6" name="TextBox 5">
            <a:extLst>
              <a:ext uri="{FF2B5EF4-FFF2-40B4-BE49-F238E27FC236}">
                <a16:creationId xmlns:a16="http://schemas.microsoft.com/office/drawing/2014/main" id="{DEE342E2-76A8-CB57-6E11-7750CF29E11E}"/>
              </a:ext>
            </a:extLst>
          </p:cNvPr>
          <p:cNvSpPr txBox="1"/>
          <p:nvPr/>
        </p:nvSpPr>
        <p:spPr>
          <a:xfrm>
            <a:off x="2906891" y="1934612"/>
            <a:ext cx="6096000" cy="830997"/>
          </a:xfrm>
          <a:prstGeom prst="rect">
            <a:avLst/>
          </a:prstGeom>
          <a:noFill/>
        </p:spPr>
        <p:txBody>
          <a:bodyPr wrap="square">
            <a:spAutoFit/>
          </a:bodyPr>
          <a:lstStyle/>
          <a:p>
            <a:r>
              <a:rPr lang="en-US" sz="2400" b="1" dirty="0"/>
              <a:t>Deep Learning-Based Gait Recognition for Person Re-Identification Using CNN-LSTM</a:t>
            </a:r>
            <a:endParaRPr lang="en-IN" sz="2400" b="1" dirty="0"/>
          </a:p>
        </p:txBody>
      </p:sp>
      <p:sp>
        <p:nvSpPr>
          <p:cNvPr id="8" name="TextBox 7">
            <a:extLst>
              <a:ext uri="{FF2B5EF4-FFF2-40B4-BE49-F238E27FC236}">
                <a16:creationId xmlns:a16="http://schemas.microsoft.com/office/drawing/2014/main" id="{75DAB51F-6DAD-789B-A360-ABEE0C5C3EA1}"/>
              </a:ext>
            </a:extLst>
          </p:cNvPr>
          <p:cNvSpPr txBox="1"/>
          <p:nvPr/>
        </p:nvSpPr>
        <p:spPr>
          <a:xfrm>
            <a:off x="2579076" y="2913556"/>
            <a:ext cx="6096000" cy="3128613"/>
          </a:xfrm>
          <a:prstGeom prst="rect">
            <a:avLst/>
          </a:prstGeom>
          <a:noFill/>
        </p:spPr>
        <p:txBody>
          <a:bodyPr wrap="square">
            <a:spAutoFit/>
          </a:bodyPr>
          <a:lstStyle/>
          <a:p>
            <a:pPr algn="ctr" eaLnBrk="0" hangingPunct="0"/>
            <a:r>
              <a:rPr lang="en-US" sz="2400" b="1" dirty="0">
                <a:latin typeface="Times New Roman" pitchFamily="18" charset="0"/>
                <a:cs typeface="Times New Roman" pitchFamily="18" charset="0"/>
              </a:rPr>
              <a:t>Presentation By,</a:t>
            </a:r>
          </a:p>
          <a:p>
            <a:pPr algn="ctr" eaLnBrk="0" hangingPunct="0"/>
            <a:r>
              <a:rPr lang="en-US" sz="2133" b="1" dirty="0">
                <a:solidFill>
                  <a:srgbClr val="FF0066"/>
                </a:solidFill>
                <a:latin typeface="Times New Roman" pitchFamily="18" charset="0"/>
                <a:cs typeface="Times New Roman" pitchFamily="18" charset="0"/>
              </a:rPr>
              <a:t>CVV ANAND (23BTRCL176)</a:t>
            </a:r>
          </a:p>
          <a:p>
            <a:pPr algn="ctr" eaLnBrk="0" hangingPunct="0"/>
            <a:r>
              <a:rPr lang="en-US" sz="2133" b="1" dirty="0">
                <a:solidFill>
                  <a:srgbClr val="FF0066"/>
                </a:solidFill>
                <a:latin typeface="Times New Roman" pitchFamily="18" charset="0"/>
                <a:cs typeface="Times New Roman" pitchFamily="18" charset="0"/>
              </a:rPr>
              <a:t>B.VIKAS (23BTRCL098)</a:t>
            </a:r>
          </a:p>
          <a:p>
            <a:pPr algn="ctr" eaLnBrk="0" hangingPunct="0"/>
            <a:r>
              <a:rPr lang="en-US" sz="2133" b="1" dirty="0">
                <a:solidFill>
                  <a:srgbClr val="FF0066"/>
                </a:solidFill>
                <a:latin typeface="Times New Roman" pitchFamily="18" charset="0"/>
                <a:cs typeface="Times New Roman" pitchFamily="18" charset="0"/>
              </a:rPr>
              <a:t>CH YASWANTH (23BTRCL174)</a:t>
            </a:r>
          </a:p>
          <a:p>
            <a:pPr algn="ctr" eaLnBrk="0" hangingPunct="0"/>
            <a:r>
              <a:rPr lang="en-US" sz="2133" b="1" dirty="0">
                <a:solidFill>
                  <a:srgbClr val="FF0066"/>
                </a:solidFill>
                <a:latin typeface="Times New Roman" pitchFamily="18" charset="0"/>
                <a:cs typeface="Times New Roman" pitchFamily="18" charset="0"/>
              </a:rPr>
              <a:t>C GANESH (23BTRCL254)</a:t>
            </a:r>
          </a:p>
          <a:p>
            <a:pPr algn="ctr" eaLnBrk="0" hangingPunct="0"/>
            <a:r>
              <a:rPr lang="en-US" sz="2133" b="1" dirty="0">
                <a:solidFill>
                  <a:srgbClr val="FF0066"/>
                </a:solidFill>
                <a:latin typeface="Times New Roman" pitchFamily="18" charset="0"/>
                <a:cs typeface="Times New Roman" pitchFamily="18" charset="0"/>
              </a:rPr>
              <a:t>M VISHNUVARDHAN BHARADWAJ (23BTRCO057)</a:t>
            </a:r>
          </a:p>
          <a:p>
            <a:pPr algn="ctr" eaLnBrk="0" hangingPunct="0"/>
            <a:r>
              <a:rPr lang="en-US" sz="2133" b="1" dirty="0">
                <a:solidFill>
                  <a:srgbClr val="FF0066"/>
                </a:solidFill>
                <a:latin typeface="Times New Roman" pitchFamily="18" charset="0"/>
                <a:cs typeface="Times New Roman" pitchFamily="18" charset="0"/>
              </a:rPr>
              <a:t>D PARDHA SANDEEP (23BTRCL180)</a:t>
            </a:r>
          </a:p>
          <a:p>
            <a:pPr algn="ctr" eaLnBrk="0" hangingPunct="0"/>
            <a:endParaRPr lang="en-US" sz="2400" b="1" dirty="0">
              <a:solidFill>
                <a:srgbClr val="FF0066"/>
              </a:solidFill>
              <a:latin typeface="Times New Roman" pitchFamily="18" charset="0"/>
              <a:cs typeface="Times New Roman" pitchFamily="18" charset="0"/>
            </a:endParaRPr>
          </a:p>
        </p:txBody>
      </p:sp>
      <p:sp>
        <p:nvSpPr>
          <p:cNvPr id="10" name="TextBox 9">
            <a:extLst>
              <a:ext uri="{FF2B5EF4-FFF2-40B4-BE49-F238E27FC236}">
                <a16:creationId xmlns:a16="http://schemas.microsoft.com/office/drawing/2014/main" id="{FFAD5BCF-1602-B675-BFDF-51B73E142008}"/>
              </a:ext>
            </a:extLst>
          </p:cNvPr>
          <p:cNvSpPr txBox="1"/>
          <p:nvPr/>
        </p:nvSpPr>
        <p:spPr>
          <a:xfrm>
            <a:off x="2700996" y="5621990"/>
            <a:ext cx="6096000" cy="1200329"/>
          </a:xfrm>
          <a:prstGeom prst="rect">
            <a:avLst/>
          </a:prstGeom>
          <a:noFill/>
        </p:spPr>
        <p:txBody>
          <a:bodyPr wrap="square">
            <a:spAutoFit/>
          </a:bodyPr>
          <a:lstStyle/>
          <a:p>
            <a:pPr algn="ctr" eaLnBrk="0" hangingPunct="0"/>
            <a:r>
              <a:rPr lang="en-US" sz="2400" b="1" dirty="0">
                <a:latin typeface="Times New Roman" pitchFamily="18" charset="0"/>
                <a:cs typeface="Times New Roman" pitchFamily="18" charset="0"/>
              </a:rPr>
              <a:t>Guided By,</a:t>
            </a:r>
          </a:p>
          <a:p>
            <a:pPr algn="ctr" eaLnBrk="0" hangingPunct="0"/>
            <a:r>
              <a:rPr lang="en-US" sz="2400" b="1" dirty="0">
                <a:latin typeface="Times New Roman" pitchFamily="18" charset="0"/>
                <a:cs typeface="Times New Roman" pitchFamily="18" charset="0"/>
              </a:rPr>
              <a:t>Dr. Archana Sasi</a:t>
            </a:r>
          </a:p>
          <a:p>
            <a:pPr algn="ctr" eaLnBrk="0" hangingPunct="0"/>
            <a:r>
              <a:rPr lang="en-US" sz="2400" b="1" dirty="0">
                <a:latin typeface="Times New Roman" pitchFamily="18" charset="0"/>
                <a:cs typeface="Times New Roman" pitchFamily="18" charset="0"/>
              </a:rPr>
              <a:t>Assistant Professor / CSE- AIML</a:t>
            </a:r>
          </a:p>
        </p:txBody>
      </p:sp>
    </p:spTree>
    <p:extLst>
      <p:ext uri="{BB962C8B-B14F-4D97-AF65-F5344CB8AC3E}">
        <p14:creationId xmlns:p14="http://schemas.microsoft.com/office/powerpoint/2010/main" val="3279159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21792" y="1042416"/>
            <a:ext cx="1572768" cy="384048"/>
          </a:xfrm>
          <a:prstGeom prst="roundRect">
            <a:avLst>
              <a:gd name="adj" fmla="val 14286"/>
            </a:avLst>
          </a:prstGeom>
          <a:solidFill>
            <a:srgbClr val="5B7CFA">
              <a:alpha val="92000"/>
            </a:srgbClr>
          </a:solidFill>
          <a:ln w="12700">
            <a:solidFill>
              <a:srgbClr val="5B7CFA">
                <a:alpha val="0"/>
              </a:srgbClr>
            </a:solidFill>
            <a:prstDash val="solid"/>
          </a:ln>
        </p:spPr>
      </p:sp>
      <p:sp>
        <p:nvSpPr>
          <p:cNvPr id="3" name="Text 1"/>
          <p:cNvSpPr/>
          <p:nvPr/>
        </p:nvSpPr>
        <p:spPr>
          <a:xfrm>
            <a:off x="795528" y="1133856"/>
            <a:ext cx="1225296" cy="137160"/>
          </a:xfrm>
          <a:prstGeom prst="rect">
            <a:avLst/>
          </a:prstGeom>
          <a:noFill/>
          <a:ln/>
        </p:spPr>
        <p:txBody>
          <a:bodyPr wrap="square" lIns="0" tIns="0" rIns="0" bIns="0" rtlCol="0" anchor="ctr"/>
          <a:lstStyle/>
          <a:p>
            <a:pPr marL="0" indent="0" algn="ctr">
              <a:buNone/>
            </a:pPr>
            <a:r>
              <a:rPr lang="en-US" sz="1000" b="1" dirty="0">
                <a:solidFill>
                  <a:srgbClr val="FFFFFF"/>
                </a:solidFill>
              </a:rPr>
              <a:t>PROJECT SUMMARY</a:t>
            </a:r>
            <a:endParaRPr lang="en-US" sz="1000" dirty="0"/>
          </a:p>
        </p:txBody>
      </p:sp>
      <p:sp>
        <p:nvSpPr>
          <p:cNvPr id="4" name="Text 2"/>
          <p:cNvSpPr/>
          <p:nvPr/>
        </p:nvSpPr>
        <p:spPr>
          <a:xfrm>
            <a:off x="621792" y="1691640"/>
            <a:ext cx="5303520" cy="1280160"/>
          </a:xfrm>
          <a:prstGeom prst="rect">
            <a:avLst/>
          </a:prstGeom>
          <a:noFill/>
          <a:ln/>
        </p:spPr>
        <p:txBody>
          <a:bodyPr wrap="square" lIns="0" tIns="0" rIns="0" bIns="0" rtlCol="0" anchor="ctr"/>
          <a:lstStyle/>
          <a:p>
            <a:pPr marL="0" indent="0">
              <a:buNone/>
            </a:pPr>
            <a:r>
              <a:rPr lang="en-US" sz="2800" b="1" dirty="0">
                <a:solidFill>
                  <a:srgbClr val="F5F7FB"/>
                </a:solidFill>
              </a:rPr>
              <a:t>Human Action</a:t>
            </a:r>
            <a:endParaRPr lang="en-US" sz="2800" dirty="0"/>
          </a:p>
          <a:p>
            <a:pPr marL="0" indent="0">
              <a:buNone/>
            </a:pPr>
            <a:r>
              <a:rPr lang="en-US" sz="2800" b="1" dirty="0">
                <a:solidFill>
                  <a:srgbClr val="F5F7FB"/>
                </a:solidFill>
              </a:rPr>
              <a:t>Recognition with Deep Learning using CNN+LSTM </a:t>
            </a:r>
            <a:endParaRPr lang="en-US" sz="2800" dirty="0"/>
          </a:p>
        </p:txBody>
      </p:sp>
      <p:sp>
        <p:nvSpPr>
          <p:cNvPr id="5" name="Text 3"/>
          <p:cNvSpPr/>
          <p:nvPr/>
        </p:nvSpPr>
        <p:spPr>
          <a:xfrm>
            <a:off x="621792" y="3305556"/>
            <a:ext cx="4846320" cy="749808"/>
          </a:xfrm>
          <a:prstGeom prst="rect">
            <a:avLst/>
          </a:prstGeom>
          <a:noFill/>
          <a:ln/>
        </p:spPr>
        <p:txBody>
          <a:bodyPr wrap="square" lIns="0" tIns="0" rIns="0" bIns="0" rtlCol="0" anchor="ctr"/>
          <a:lstStyle/>
          <a:p>
            <a:r>
              <a:rPr lang="en-US" sz="1600" dirty="0">
                <a:solidFill>
                  <a:schemeClr val="bg1"/>
                </a:solidFill>
              </a:rPr>
              <a:t>Upload a video and let the system automatically identify the human action using an AI-based recognition model.</a:t>
            </a:r>
            <a:br>
              <a:rPr lang="en-US" sz="1600" dirty="0">
                <a:solidFill>
                  <a:schemeClr val="bg1"/>
                </a:solidFill>
              </a:rPr>
            </a:br>
            <a:r>
              <a:rPr lang="en-US" sz="1600" dirty="0">
                <a:solidFill>
                  <a:schemeClr val="bg1"/>
                </a:solidFill>
              </a:rPr>
              <a:t>This application makes action detection simple, fast, and interactive through an easy-to-use web interface.</a:t>
            </a:r>
          </a:p>
        </p:txBody>
      </p:sp>
      <p:sp>
        <p:nvSpPr>
          <p:cNvPr id="6" name="Shape 4"/>
          <p:cNvSpPr/>
          <p:nvPr/>
        </p:nvSpPr>
        <p:spPr>
          <a:xfrm>
            <a:off x="658368" y="4572000"/>
            <a:ext cx="1810512" cy="365760"/>
          </a:xfrm>
          <a:prstGeom prst="roundRect">
            <a:avLst>
              <a:gd name="adj" fmla="val 17500"/>
            </a:avLst>
          </a:prstGeom>
          <a:solidFill>
            <a:srgbClr val="22C55E">
              <a:alpha val="88000"/>
            </a:srgbClr>
          </a:solidFill>
          <a:ln w="12700">
            <a:solidFill>
              <a:srgbClr val="22C55E">
                <a:alpha val="0"/>
              </a:srgbClr>
            </a:solidFill>
            <a:prstDash val="solid"/>
          </a:ln>
        </p:spPr>
      </p:sp>
      <p:sp>
        <p:nvSpPr>
          <p:cNvPr id="7" name="Text 5"/>
          <p:cNvSpPr/>
          <p:nvPr/>
        </p:nvSpPr>
        <p:spPr>
          <a:xfrm>
            <a:off x="685800" y="4672584"/>
            <a:ext cx="1755648" cy="91440"/>
          </a:xfrm>
          <a:prstGeom prst="rect">
            <a:avLst/>
          </a:prstGeom>
          <a:noFill/>
          <a:ln/>
        </p:spPr>
        <p:txBody>
          <a:bodyPr wrap="square" lIns="0" tIns="0" rIns="0" bIns="0" rtlCol="0" anchor="ctr"/>
          <a:lstStyle/>
          <a:p>
            <a:pPr marL="0" indent="0" algn="ctr">
              <a:buNone/>
            </a:pPr>
            <a:r>
              <a:rPr lang="en-US" sz="1020" b="1" dirty="0">
                <a:solidFill>
                  <a:srgbClr val="FFFFFF"/>
                </a:solidFill>
              </a:rPr>
              <a:t>Dataset ready</a:t>
            </a:r>
            <a:endParaRPr lang="en-US" sz="1020" dirty="0"/>
          </a:p>
        </p:txBody>
      </p:sp>
      <p:sp>
        <p:nvSpPr>
          <p:cNvPr id="8" name="Shape 6"/>
          <p:cNvSpPr/>
          <p:nvPr/>
        </p:nvSpPr>
        <p:spPr>
          <a:xfrm>
            <a:off x="2715768" y="4572000"/>
            <a:ext cx="1810512" cy="365760"/>
          </a:xfrm>
          <a:prstGeom prst="roundRect">
            <a:avLst>
              <a:gd name="adj" fmla="val 17500"/>
            </a:avLst>
          </a:prstGeom>
          <a:solidFill>
            <a:srgbClr val="5B7CFA">
              <a:alpha val="88000"/>
            </a:srgbClr>
          </a:solidFill>
          <a:ln w="12700">
            <a:solidFill>
              <a:srgbClr val="5B7CFA">
                <a:alpha val="0"/>
              </a:srgbClr>
            </a:solidFill>
            <a:prstDash val="solid"/>
          </a:ln>
        </p:spPr>
      </p:sp>
      <p:sp>
        <p:nvSpPr>
          <p:cNvPr id="9" name="Text 7"/>
          <p:cNvSpPr/>
          <p:nvPr/>
        </p:nvSpPr>
        <p:spPr>
          <a:xfrm>
            <a:off x="2743200" y="4672584"/>
            <a:ext cx="1755648" cy="91440"/>
          </a:xfrm>
          <a:prstGeom prst="rect">
            <a:avLst/>
          </a:prstGeom>
          <a:noFill/>
          <a:ln/>
        </p:spPr>
        <p:txBody>
          <a:bodyPr wrap="square" lIns="0" tIns="0" rIns="0" bIns="0" rtlCol="0" anchor="ctr"/>
          <a:lstStyle/>
          <a:p>
            <a:pPr marL="0" indent="0" algn="ctr">
              <a:buNone/>
            </a:pPr>
            <a:r>
              <a:rPr lang="en-US" sz="1020" b="1" dirty="0">
                <a:solidFill>
                  <a:srgbClr val="FFFFFF"/>
                </a:solidFill>
              </a:rPr>
              <a:t>CNN+LSTM built</a:t>
            </a:r>
            <a:endParaRPr lang="en-US" sz="1020" dirty="0"/>
          </a:p>
        </p:txBody>
      </p:sp>
      <p:sp>
        <p:nvSpPr>
          <p:cNvPr id="10" name="Shape 8"/>
          <p:cNvSpPr/>
          <p:nvPr/>
        </p:nvSpPr>
        <p:spPr>
          <a:xfrm>
            <a:off x="658368" y="5138928"/>
            <a:ext cx="1810512" cy="365760"/>
          </a:xfrm>
          <a:prstGeom prst="roundRect">
            <a:avLst>
              <a:gd name="adj" fmla="val 17500"/>
            </a:avLst>
          </a:prstGeom>
          <a:solidFill>
            <a:srgbClr val="8B5CF6">
              <a:alpha val="88000"/>
            </a:srgbClr>
          </a:solidFill>
          <a:ln w="12700">
            <a:solidFill>
              <a:srgbClr val="8B5CF6">
                <a:alpha val="0"/>
              </a:srgbClr>
            </a:solidFill>
            <a:prstDash val="solid"/>
          </a:ln>
        </p:spPr>
      </p:sp>
      <p:sp>
        <p:nvSpPr>
          <p:cNvPr id="11" name="Text 9"/>
          <p:cNvSpPr/>
          <p:nvPr/>
        </p:nvSpPr>
        <p:spPr>
          <a:xfrm>
            <a:off x="685800" y="5239512"/>
            <a:ext cx="1755648" cy="91440"/>
          </a:xfrm>
          <a:prstGeom prst="rect">
            <a:avLst/>
          </a:prstGeom>
          <a:noFill/>
          <a:ln/>
        </p:spPr>
        <p:txBody>
          <a:bodyPr wrap="square" lIns="0" tIns="0" rIns="0" bIns="0" rtlCol="0" anchor="ctr"/>
          <a:lstStyle/>
          <a:p>
            <a:pPr marL="0" indent="0" algn="ctr">
              <a:buNone/>
            </a:pPr>
            <a:r>
              <a:rPr lang="en-US" sz="1020" b="1" dirty="0">
                <a:solidFill>
                  <a:srgbClr val="FFFFFF"/>
                </a:solidFill>
              </a:rPr>
              <a:t>Upload UI built</a:t>
            </a:r>
            <a:endParaRPr lang="en-US" sz="1020" dirty="0"/>
          </a:p>
        </p:txBody>
      </p:sp>
      <p:sp>
        <p:nvSpPr>
          <p:cNvPr id="12" name="Shape 10"/>
          <p:cNvSpPr/>
          <p:nvPr/>
        </p:nvSpPr>
        <p:spPr>
          <a:xfrm>
            <a:off x="2715768" y="5138928"/>
            <a:ext cx="1810512" cy="365760"/>
          </a:xfrm>
          <a:prstGeom prst="roundRect">
            <a:avLst>
              <a:gd name="adj" fmla="val 17500"/>
            </a:avLst>
          </a:prstGeom>
          <a:solidFill>
            <a:srgbClr val="F59E0B">
              <a:alpha val="88000"/>
            </a:srgbClr>
          </a:solidFill>
          <a:ln w="12700">
            <a:solidFill>
              <a:srgbClr val="F59E0B">
                <a:alpha val="0"/>
              </a:srgbClr>
            </a:solidFill>
            <a:prstDash val="solid"/>
          </a:ln>
        </p:spPr>
      </p:sp>
      <p:sp>
        <p:nvSpPr>
          <p:cNvPr id="13" name="Text 11"/>
          <p:cNvSpPr/>
          <p:nvPr/>
        </p:nvSpPr>
        <p:spPr>
          <a:xfrm>
            <a:off x="2743200" y="5239512"/>
            <a:ext cx="1755648" cy="91440"/>
          </a:xfrm>
          <a:prstGeom prst="rect">
            <a:avLst/>
          </a:prstGeom>
          <a:noFill/>
          <a:ln/>
        </p:spPr>
        <p:txBody>
          <a:bodyPr wrap="square" lIns="0" tIns="0" rIns="0" bIns="0" rtlCol="0" anchor="ctr"/>
          <a:lstStyle/>
          <a:p>
            <a:pPr marL="0" indent="0" algn="ctr">
              <a:buNone/>
            </a:pPr>
            <a:r>
              <a:rPr lang="en-US" sz="1020" b="1" dirty="0">
                <a:solidFill>
                  <a:srgbClr val="FFFFFF"/>
                </a:solidFill>
              </a:rPr>
              <a:t>Testing done</a:t>
            </a:r>
            <a:endParaRPr lang="en-US" sz="1020" dirty="0"/>
          </a:p>
        </p:txBody>
      </p:sp>
      <p:sp>
        <p:nvSpPr>
          <p:cNvPr id="15" name="Shape 12"/>
          <p:cNvSpPr/>
          <p:nvPr/>
        </p:nvSpPr>
        <p:spPr>
          <a:xfrm>
            <a:off x="7114032" y="4983480"/>
            <a:ext cx="749808" cy="365760"/>
          </a:xfrm>
          <a:prstGeom prst="roundRect">
            <a:avLst>
              <a:gd name="adj" fmla="val 12500"/>
            </a:avLst>
          </a:prstGeom>
          <a:solidFill>
            <a:srgbClr val="16213D"/>
          </a:solidFill>
          <a:ln w="12700">
            <a:solidFill>
              <a:srgbClr val="24324F"/>
            </a:solidFill>
            <a:prstDash val="solid"/>
          </a:ln>
        </p:spPr>
      </p:sp>
      <p:sp>
        <p:nvSpPr>
          <p:cNvPr id="16" name="Text 13"/>
          <p:cNvSpPr/>
          <p:nvPr/>
        </p:nvSpPr>
        <p:spPr>
          <a:xfrm>
            <a:off x="7123176" y="5093208"/>
            <a:ext cx="731520" cy="91440"/>
          </a:xfrm>
          <a:prstGeom prst="rect">
            <a:avLst/>
          </a:prstGeom>
          <a:noFill/>
          <a:ln/>
        </p:spPr>
        <p:txBody>
          <a:bodyPr wrap="square" lIns="0" tIns="0" rIns="0" bIns="0" rtlCol="0" anchor="ctr"/>
          <a:lstStyle/>
          <a:p>
            <a:pPr marL="0" indent="0" algn="ctr">
              <a:buNone/>
            </a:pPr>
            <a:r>
              <a:rPr lang="en-US" sz="950" b="1" dirty="0">
                <a:solidFill>
                  <a:srgbClr val="FFFFFF"/>
                </a:solidFill>
              </a:rPr>
              <a:t>Upload</a:t>
            </a:r>
            <a:endParaRPr lang="en-US" sz="950" dirty="0"/>
          </a:p>
        </p:txBody>
      </p:sp>
      <p:sp>
        <p:nvSpPr>
          <p:cNvPr id="17" name="Text 14"/>
          <p:cNvSpPr/>
          <p:nvPr/>
        </p:nvSpPr>
        <p:spPr>
          <a:xfrm>
            <a:off x="7882128" y="5074920"/>
            <a:ext cx="164592" cy="91440"/>
          </a:xfrm>
          <a:prstGeom prst="rect">
            <a:avLst/>
          </a:prstGeom>
          <a:noFill/>
          <a:ln/>
        </p:spPr>
        <p:txBody>
          <a:bodyPr wrap="square" lIns="0" tIns="0" rIns="0" bIns="0" rtlCol="0" anchor="ctr"/>
          <a:lstStyle/>
          <a:p>
            <a:pPr marL="0" indent="0" algn="ctr">
              <a:buNone/>
            </a:pPr>
            <a:r>
              <a:rPr lang="en-US" sz="1400" b="1" dirty="0">
                <a:solidFill>
                  <a:srgbClr val="33C3F0"/>
                </a:solidFill>
              </a:rPr>
              <a:t>→</a:t>
            </a:r>
            <a:endParaRPr lang="en-US" sz="1400" dirty="0"/>
          </a:p>
        </p:txBody>
      </p:sp>
      <p:sp>
        <p:nvSpPr>
          <p:cNvPr id="18" name="Shape 15"/>
          <p:cNvSpPr/>
          <p:nvPr/>
        </p:nvSpPr>
        <p:spPr>
          <a:xfrm>
            <a:off x="8101584" y="4983480"/>
            <a:ext cx="749808" cy="365760"/>
          </a:xfrm>
          <a:prstGeom prst="roundRect">
            <a:avLst>
              <a:gd name="adj" fmla="val 12500"/>
            </a:avLst>
          </a:prstGeom>
          <a:solidFill>
            <a:srgbClr val="16213D"/>
          </a:solidFill>
          <a:ln w="12700">
            <a:solidFill>
              <a:srgbClr val="24324F"/>
            </a:solidFill>
            <a:prstDash val="solid"/>
          </a:ln>
        </p:spPr>
      </p:sp>
      <p:sp>
        <p:nvSpPr>
          <p:cNvPr id="19" name="Text 16"/>
          <p:cNvSpPr/>
          <p:nvPr/>
        </p:nvSpPr>
        <p:spPr>
          <a:xfrm>
            <a:off x="8110728" y="5093208"/>
            <a:ext cx="731520" cy="91440"/>
          </a:xfrm>
          <a:prstGeom prst="rect">
            <a:avLst/>
          </a:prstGeom>
          <a:noFill/>
          <a:ln/>
        </p:spPr>
        <p:txBody>
          <a:bodyPr wrap="square" lIns="0" tIns="0" rIns="0" bIns="0" rtlCol="0" anchor="ctr"/>
          <a:lstStyle/>
          <a:p>
            <a:pPr marL="0" indent="0" algn="ctr">
              <a:buNone/>
            </a:pPr>
            <a:r>
              <a:rPr lang="en-US" sz="950" b="1" dirty="0">
                <a:solidFill>
                  <a:srgbClr val="FFFFFF"/>
                </a:solidFill>
              </a:rPr>
              <a:t>Frames</a:t>
            </a:r>
            <a:endParaRPr lang="en-US" sz="950" dirty="0"/>
          </a:p>
        </p:txBody>
      </p:sp>
      <p:sp>
        <p:nvSpPr>
          <p:cNvPr id="20" name="Text 17"/>
          <p:cNvSpPr/>
          <p:nvPr/>
        </p:nvSpPr>
        <p:spPr>
          <a:xfrm>
            <a:off x="8869680" y="5074920"/>
            <a:ext cx="164592" cy="91440"/>
          </a:xfrm>
          <a:prstGeom prst="rect">
            <a:avLst/>
          </a:prstGeom>
          <a:noFill/>
          <a:ln/>
        </p:spPr>
        <p:txBody>
          <a:bodyPr wrap="square" lIns="0" tIns="0" rIns="0" bIns="0" rtlCol="0" anchor="ctr"/>
          <a:lstStyle/>
          <a:p>
            <a:pPr marL="0" indent="0" algn="ctr">
              <a:buNone/>
            </a:pPr>
            <a:r>
              <a:rPr lang="en-US" sz="1400" b="1" dirty="0">
                <a:solidFill>
                  <a:srgbClr val="33C3F0"/>
                </a:solidFill>
              </a:rPr>
              <a:t>→</a:t>
            </a:r>
            <a:endParaRPr lang="en-US" sz="1400" dirty="0"/>
          </a:p>
        </p:txBody>
      </p:sp>
      <p:sp>
        <p:nvSpPr>
          <p:cNvPr id="21" name="Shape 18"/>
          <p:cNvSpPr/>
          <p:nvPr/>
        </p:nvSpPr>
        <p:spPr>
          <a:xfrm>
            <a:off x="9089136" y="4983480"/>
            <a:ext cx="749808" cy="365760"/>
          </a:xfrm>
          <a:prstGeom prst="roundRect">
            <a:avLst>
              <a:gd name="adj" fmla="val 12500"/>
            </a:avLst>
          </a:prstGeom>
          <a:solidFill>
            <a:srgbClr val="16213D"/>
          </a:solidFill>
          <a:ln w="12700">
            <a:solidFill>
              <a:srgbClr val="24324F"/>
            </a:solidFill>
            <a:prstDash val="solid"/>
          </a:ln>
        </p:spPr>
      </p:sp>
      <p:sp>
        <p:nvSpPr>
          <p:cNvPr id="22" name="Text 19"/>
          <p:cNvSpPr/>
          <p:nvPr/>
        </p:nvSpPr>
        <p:spPr>
          <a:xfrm>
            <a:off x="9098280" y="5093208"/>
            <a:ext cx="731520" cy="91440"/>
          </a:xfrm>
          <a:prstGeom prst="rect">
            <a:avLst/>
          </a:prstGeom>
          <a:noFill/>
          <a:ln/>
        </p:spPr>
        <p:txBody>
          <a:bodyPr wrap="square" lIns="0" tIns="0" rIns="0" bIns="0" rtlCol="0" anchor="ctr"/>
          <a:lstStyle/>
          <a:p>
            <a:pPr marL="0" indent="0" algn="ctr">
              <a:buNone/>
            </a:pPr>
            <a:r>
              <a:rPr lang="en-US" sz="950" b="1" dirty="0">
                <a:solidFill>
                  <a:srgbClr val="FFFFFF"/>
                </a:solidFill>
              </a:rPr>
              <a:t>Model</a:t>
            </a:r>
            <a:endParaRPr lang="en-US" sz="950" dirty="0"/>
          </a:p>
        </p:txBody>
      </p:sp>
      <p:sp>
        <p:nvSpPr>
          <p:cNvPr id="23" name="Text 20"/>
          <p:cNvSpPr/>
          <p:nvPr/>
        </p:nvSpPr>
        <p:spPr>
          <a:xfrm>
            <a:off x="9857232" y="5074920"/>
            <a:ext cx="164592" cy="91440"/>
          </a:xfrm>
          <a:prstGeom prst="rect">
            <a:avLst/>
          </a:prstGeom>
          <a:noFill/>
          <a:ln/>
        </p:spPr>
        <p:txBody>
          <a:bodyPr wrap="square" lIns="0" tIns="0" rIns="0" bIns="0" rtlCol="0" anchor="ctr"/>
          <a:lstStyle/>
          <a:p>
            <a:pPr marL="0" indent="0" algn="ctr">
              <a:buNone/>
            </a:pPr>
            <a:r>
              <a:rPr lang="en-US" sz="1400" b="1" dirty="0">
                <a:solidFill>
                  <a:srgbClr val="33C3F0"/>
                </a:solidFill>
              </a:rPr>
              <a:t>→</a:t>
            </a:r>
            <a:endParaRPr lang="en-US" sz="1400" dirty="0"/>
          </a:p>
        </p:txBody>
      </p:sp>
      <p:sp>
        <p:nvSpPr>
          <p:cNvPr id="24" name="Shape 21"/>
          <p:cNvSpPr/>
          <p:nvPr/>
        </p:nvSpPr>
        <p:spPr>
          <a:xfrm>
            <a:off x="10076688" y="4983480"/>
            <a:ext cx="749808" cy="365760"/>
          </a:xfrm>
          <a:prstGeom prst="roundRect">
            <a:avLst>
              <a:gd name="adj" fmla="val 12500"/>
            </a:avLst>
          </a:prstGeom>
          <a:solidFill>
            <a:srgbClr val="22C55E"/>
          </a:solidFill>
          <a:ln w="12700">
            <a:solidFill>
              <a:srgbClr val="22C55E"/>
            </a:solidFill>
            <a:prstDash val="solid"/>
          </a:ln>
        </p:spPr>
      </p:sp>
      <p:sp>
        <p:nvSpPr>
          <p:cNvPr id="25" name="Text 22"/>
          <p:cNvSpPr/>
          <p:nvPr/>
        </p:nvSpPr>
        <p:spPr>
          <a:xfrm>
            <a:off x="10085832" y="5093208"/>
            <a:ext cx="731520" cy="91440"/>
          </a:xfrm>
          <a:prstGeom prst="rect">
            <a:avLst/>
          </a:prstGeom>
          <a:noFill/>
          <a:ln/>
        </p:spPr>
        <p:txBody>
          <a:bodyPr wrap="square" lIns="0" tIns="0" rIns="0" bIns="0" rtlCol="0" anchor="ctr"/>
          <a:lstStyle/>
          <a:p>
            <a:pPr marL="0" indent="0" algn="ctr">
              <a:buNone/>
            </a:pPr>
            <a:r>
              <a:rPr lang="en-US" sz="950" b="1" dirty="0">
                <a:solidFill>
                  <a:srgbClr val="FFFFFF"/>
                </a:solidFill>
              </a:rPr>
              <a:t>Action</a:t>
            </a:r>
            <a:endParaRPr lang="en-US" sz="950" dirty="0"/>
          </a:p>
        </p:txBody>
      </p:sp>
      <p:sp>
        <p:nvSpPr>
          <p:cNvPr id="26" name="Text 23"/>
          <p:cNvSpPr/>
          <p:nvPr/>
        </p:nvSpPr>
        <p:spPr>
          <a:xfrm>
            <a:off x="6949440" y="5577840"/>
            <a:ext cx="4480560" cy="164592"/>
          </a:xfrm>
          <a:prstGeom prst="rect">
            <a:avLst/>
          </a:prstGeom>
          <a:noFill/>
          <a:ln/>
        </p:spPr>
        <p:txBody>
          <a:bodyPr wrap="square" lIns="0" tIns="0" rIns="0" bIns="0" rtlCol="0" anchor="ctr"/>
          <a:lstStyle/>
          <a:p>
            <a:pPr marL="0" indent="0" algn="ctr">
              <a:buNone/>
            </a:pPr>
            <a:r>
              <a:rPr lang="en-US" sz="1100" dirty="0">
                <a:solidFill>
                  <a:srgbClr val="A8B2C8"/>
                </a:solidFill>
              </a:rPr>
              <a:t>B.Tech / final-year implementation snapshot</a:t>
            </a:r>
            <a:endParaRPr lang="en-US" sz="1100" dirty="0"/>
          </a:p>
        </p:txBody>
      </p:sp>
      <p:sp>
        <p:nvSpPr>
          <p:cNvPr id="27" name="Slide Number Placeholder 0"/>
          <p:cNvSpPr>
            <a:spLocks noGrp="1"/>
          </p:cNvSpPr>
          <p:nvPr>
            <p:ph type="sldNum" sz="quarter" idx="4294967295"/>
          </p:nvPr>
        </p:nvSpPr>
        <p:spPr>
          <a:xfrm>
            <a:off x="11795760" y="6446520"/>
            <a:ext cx="22860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9AA7C2"/>
                </a:solidFill>
              </a:defRPr>
            </a:lvl1pPr>
          </a:lstStyle>
          <a:p>
            <a:pPr algn="r"/>
            <a:fld id="{F7021451-1387-4CA6-816F-3879F97B5CBC}" type="slidenum">
              <a:rPr lang="en-US" b="0"/>
              <a:t>2</a:t>
            </a:fld>
            <a:endParaRPr lang="en-US"/>
          </a:p>
        </p:txBody>
      </p:sp>
      <p:pic>
        <p:nvPicPr>
          <p:cNvPr id="29" name="Picture 28">
            <a:extLst>
              <a:ext uri="{FF2B5EF4-FFF2-40B4-BE49-F238E27FC236}">
                <a16:creationId xmlns:a16="http://schemas.microsoft.com/office/drawing/2014/main" id="{982AED64-3B86-90F4-D297-6E410786F593}"/>
              </a:ext>
            </a:extLst>
          </p:cNvPr>
          <p:cNvPicPr>
            <a:picLocks noChangeAspect="1"/>
          </p:cNvPicPr>
          <p:nvPr/>
        </p:nvPicPr>
        <p:blipFill>
          <a:blip r:embed="rId3"/>
          <a:stretch>
            <a:fillRect/>
          </a:stretch>
        </p:blipFill>
        <p:spPr>
          <a:xfrm>
            <a:off x="6225444" y="1874520"/>
            <a:ext cx="5453063" cy="241369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72AFD7-80E5-1C06-838F-D26CBC1A097B}"/>
              </a:ext>
            </a:extLst>
          </p:cNvPr>
          <p:cNvSpPr txBox="1"/>
          <p:nvPr/>
        </p:nvSpPr>
        <p:spPr>
          <a:xfrm>
            <a:off x="391885" y="365297"/>
            <a:ext cx="11485984" cy="6278642"/>
          </a:xfrm>
          <a:prstGeom prst="rect">
            <a:avLst/>
          </a:prstGeom>
          <a:noFill/>
        </p:spPr>
        <p:txBody>
          <a:bodyPr wrap="square">
            <a:spAutoFit/>
          </a:bodyPr>
          <a:lstStyle/>
          <a:p>
            <a:pPr algn="ctr"/>
            <a:r>
              <a:rPr lang="en-IN" sz="2400" b="1" u="sng" dirty="0">
                <a:solidFill>
                  <a:schemeClr val="bg1"/>
                </a:solidFill>
              </a:rPr>
              <a:t>Methodology</a:t>
            </a:r>
            <a:endParaRPr lang="en-IN" sz="2400" dirty="0">
              <a:solidFill>
                <a:schemeClr val="bg1"/>
              </a:solidFill>
            </a:endParaRPr>
          </a:p>
          <a:p>
            <a:pPr algn="just">
              <a:lnSpc>
                <a:spcPct val="150000"/>
              </a:lnSpc>
            </a:pPr>
            <a:endParaRPr lang="en-IN" sz="2000" dirty="0">
              <a:solidFill>
                <a:schemeClr val="bg1"/>
              </a:solidFill>
            </a:endParaRPr>
          </a:p>
          <a:p>
            <a:pPr algn="just">
              <a:lnSpc>
                <a:spcPct val="150000"/>
              </a:lnSpc>
            </a:pPr>
            <a:r>
              <a:rPr lang="en-IN" sz="2000" dirty="0">
                <a:solidFill>
                  <a:schemeClr val="bg1"/>
                </a:solidFill>
              </a:rPr>
              <a:t>Step 1: Data Collection</a:t>
            </a:r>
          </a:p>
          <a:p>
            <a:pPr marL="285750" indent="-285750" algn="just">
              <a:lnSpc>
                <a:spcPct val="150000"/>
              </a:lnSpc>
              <a:buFont typeface="Arial" panose="020B0604020202020204" pitchFamily="34" charset="0"/>
              <a:buChar char="•"/>
            </a:pPr>
            <a:r>
              <a:rPr lang="en-IN" sz="2000" dirty="0">
                <a:solidFill>
                  <a:schemeClr val="bg1"/>
                </a:solidFill>
              </a:rPr>
              <a:t>Collected video dataset of human actions</a:t>
            </a:r>
          </a:p>
          <a:p>
            <a:pPr marL="285750" indent="-285750" algn="just">
              <a:lnSpc>
                <a:spcPct val="150000"/>
              </a:lnSpc>
              <a:buFont typeface="Arial" panose="020B0604020202020204" pitchFamily="34" charset="0"/>
              <a:buChar char="•"/>
            </a:pPr>
            <a:r>
              <a:rPr lang="en-IN" sz="2000" dirty="0">
                <a:solidFill>
                  <a:schemeClr val="bg1"/>
                </a:solidFill>
              </a:rPr>
              <a:t>Each action stored in separate class folders</a:t>
            </a:r>
          </a:p>
          <a:p>
            <a:pPr algn="just">
              <a:lnSpc>
                <a:spcPct val="150000"/>
              </a:lnSpc>
            </a:pPr>
            <a:r>
              <a:rPr lang="en-IN" sz="2000" dirty="0">
                <a:solidFill>
                  <a:schemeClr val="bg1"/>
                </a:solidFill>
              </a:rPr>
              <a:t>Step 2: Data Preprocessing</a:t>
            </a:r>
          </a:p>
          <a:p>
            <a:pPr marL="285750" indent="-285750" algn="just">
              <a:lnSpc>
                <a:spcPct val="150000"/>
              </a:lnSpc>
              <a:buFont typeface="Arial" panose="020B0604020202020204" pitchFamily="34" charset="0"/>
              <a:buChar char="•"/>
            </a:pPr>
            <a:r>
              <a:rPr lang="en-IN" sz="2000" dirty="0">
                <a:solidFill>
                  <a:schemeClr val="bg1"/>
                </a:solidFill>
              </a:rPr>
              <a:t>Extract frames from videos using OpenCV</a:t>
            </a:r>
          </a:p>
          <a:p>
            <a:pPr marL="285750" indent="-285750" algn="just">
              <a:lnSpc>
                <a:spcPct val="150000"/>
              </a:lnSpc>
              <a:buFont typeface="Arial" panose="020B0604020202020204" pitchFamily="34" charset="0"/>
              <a:buChar char="•"/>
            </a:pPr>
            <a:r>
              <a:rPr lang="en-IN" sz="2000" dirty="0">
                <a:solidFill>
                  <a:schemeClr val="bg1"/>
                </a:solidFill>
              </a:rPr>
              <a:t>Resize frames (e.g., 224×224)</a:t>
            </a:r>
          </a:p>
          <a:p>
            <a:pPr marL="285750" indent="-285750" algn="just">
              <a:lnSpc>
                <a:spcPct val="150000"/>
              </a:lnSpc>
              <a:buFont typeface="Arial" panose="020B0604020202020204" pitchFamily="34" charset="0"/>
              <a:buChar char="•"/>
            </a:pPr>
            <a:r>
              <a:rPr lang="en-IN" sz="2000" dirty="0">
                <a:solidFill>
                  <a:schemeClr val="bg1"/>
                </a:solidFill>
              </a:rPr>
              <a:t>Normalize pixel values (0–1)</a:t>
            </a:r>
          </a:p>
          <a:p>
            <a:pPr algn="just">
              <a:lnSpc>
                <a:spcPct val="150000"/>
              </a:lnSpc>
            </a:pPr>
            <a:r>
              <a:rPr lang="en-IN" sz="2000" dirty="0">
                <a:solidFill>
                  <a:schemeClr val="bg1"/>
                </a:solidFill>
              </a:rPr>
              <a:t>Step 3: Model Training</a:t>
            </a:r>
          </a:p>
          <a:p>
            <a:pPr marL="285750" indent="-285750" algn="just">
              <a:lnSpc>
                <a:spcPct val="150000"/>
              </a:lnSpc>
              <a:buFont typeface="Arial" panose="020B0604020202020204" pitchFamily="34" charset="0"/>
              <a:buChar char="•"/>
            </a:pPr>
            <a:r>
              <a:rPr lang="en-IN" sz="2000" dirty="0">
                <a:solidFill>
                  <a:schemeClr val="bg1"/>
                </a:solidFill>
              </a:rPr>
              <a:t>Use CNN / CNN-LSTM model</a:t>
            </a:r>
          </a:p>
          <a:p>
            <a:pPr marL="285750" indent="-285750" algn="just">
              <a:lnSpc>
                <a:spcPct val="150000"/>
              </a:lnSpc>
              <a:buFont typeface="Arial" panose="020B0604020202020204" pitchFamily="34" charset="0"/>
              <a:buChar char="•"/>
            </a:pPr>
            <a:r>
              <a:rPr lang="en-IN" sz="2000" dirty="0">
                <a:solidFill>
                  <a:schemeClr val="bg1"/>
                </a:solidFill>
              </a:rPr>
              <a:t>Train on extracted frames</a:t>
            </a:r>
          </a:p>
          <a:p>
            <a:pPr marL="285750" indent="-285750" algn="just">
              <a:lnSpc>
                <a:spcPct val="150000"/>
              </a:lnSpc>
              <a:buFont typeface="Arial" panose="020B0604020202020204" pitchFamily="34" charset="0"/>
              <a:buChar char="•"/>
            </a:pPr>
            <a:r>
              <a:rPr lang="en-IN" sz="2000" dirty="0">
                <a:solidFill>
                  <a:schemeClr val="bg1"/>
                </a:solidFill>
              </a:rPr>
              <a:t>Learn spatial and temporal features</a:t>
            </a:r>
          </a:p>
          <a:p>
            <a:pPr algn="just"/>
            <a:endParaRPr lang="en-IN" dirty="0">
              <a:solidFill>
                <a:schemeClr val="bg1"/>
              </a:solidFill>
            </a:endParaRPr>
          </a:p>
        </p:txBody>
      </p:sp>
    </p:spTree>
    <p:extLst>
      <p:ext uri="{BB962C8B-B14F-4D97-AF65-F5344CB8AC3E}">
        <p14:creationId xmlns:p14="http://schemas.microsoft.com/office/powerpoint/2010/main" val="228470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972089-0ACF-81F5-E6E4-F92EBB900A21}"/>
              </a:ext>
            </a:extLst>
          </p:cNvPr>
          <p:cNvSpPr txBox="1"/>
          <p:nvPr/>
        </p:nvSpPr>
        <p:spPr>
          <a:xfrm>
            <a:off x="774441" y="593869"/>
            <a:ext cx="6102220" cy="4899868"/>
          </a:xfrm>
          <a:prstGeom prst="rect">
            <a:avLst/>
          </a:prstGeom>
          <a:noFill/>
        </p:spPr>
        <p:txBody>
          <a:bodyPr wrap="square">
            <a:spAutoFit/>
          </a:bodyPr>
          <a:lstStyle/>
          <a:p>
            <a:pPr algn="just"/>
            <a:endParaRPr lang="en-IN" dirty="0">
              <a:solidFill>
                <a:schemeClr val="bg1"/>
              </a:solidFill>
            </a:endParaRPr>
          </a:p>
          <a:p>
            <a:pPr algn="just">
              <a:lnSpc>
                <a:spcPct val="150000"/>
              </a:lnSpc>
            </a:pPr>
            <a:r>
              <a:rPr lang="en-IN" dirty="0">
                <a:solidFill>
                  <a:schemeClr val="bg1"/>
                </a:solidFill>
              </a:rPr>
              <a:t>Step 4: Model Evaluation</a:t>
            </a:r>
          </a:p>
          <a:p>
            <a:pPr marL="285750" indent="-285750" algn="just">
              <a:lnSpc>
                <a:spcPct val="150000"/>
              </a:lnSpc>
              <a:buFont typeface="Arial" panose="020B0604020202020204" pitchFamily="34" charset="0"/>
              <a:buChar char="•"/>
            </a:pPr>
            <a:r>
              <a:rPr lang="en-IN" dirty="0">
                <a:solidFill>
                  <a:schemeClr val="bg1"/>
                </a:solidFill>
              </a:rPr>
              <a:t>Split data into train and test sets</a:t>
            </a:r>
          </a:p>
          <a:p>
            <a:pPr marL="285750" indent="-285750" algn="just">
              <a:lnSpc>
                <a:spcPct val="150000"/>
              </a:lnSpc>
              <a:buFont typeface="Arial" panose="020B0604020202020204" pitchFamily="34" charset="0"/>
              <a:buChar char="•"/>
            </a:pPr>
            <a:r>
              <a:rPr lang="en-IN" dirty="0">
                <a:solidFill>
                  <a:schemeClr val="bg1"/>
                </a:solidFill>
              </a:rPr>
              <a:t>Evaluate using accuracy and loss</a:t>
            </a:r>
          </a:p>
          <a:p>
            <a:pPr marL="285750" indent="-285750" algn="just">
              <a:lnSpc>
                <a:spcPct val="150000"/>
              </a:lnSpc>
              <a:buFont typeface="Arial" panose="020B0604020202020204" pitchFamily="34" charset="0"/>
              <a:buChar char="•"/>
            </a:pPr>
            <a:r>
              <a:rPr lang="en-IN" dirty="0">
                <a:solidFill>
                  <a:schemeClr val="bg1"/>
                </a:solidFill>
              </a:rPr>
              <a:t>Improve model performance</a:t>
            </a:r>
          </a:p>
          <a:p>
            <a:pPr algn="just">
              <a:lnSpc>
                <a:spcPct val="150000"/>
              </a:lnSpc>
            </a:pPr>
            <a:r>
              <a:rPr lang="en-IN" dirty="0">
                <a:solidFill>
                  <a:schemeClr val="bg1"/>
                </a:solidFill>
              </a:rPr>
              <a:t>Step 5: Prediction System</a:t>
            </a:r>
          </a:p>
          <a:p>
            <a:pPr marL="285750" indent="-285750" algn="just">
              <a:lnSpc>
                <a:spcPct val="150000"/>
              </a:lnSpc>
              <a:buFont typeface="Arial" panose="020B0604020202020204" pitchFamily="34" charset="0"/>
              <a:buChar char="•"/>
            </a:pPr>
            <a:r>
              <a:rPr lang="en-IN" dirty="0">
                <a:solidFill>
                  <a:schemeClr val="bg1"/>
                </a:solidFill>
              </a:rPr>
              <a:t>Upload video through web interface</a:t>
            </a:r>
          </a:p>
          <a:p>
            <a:pPr marL="285750" indent="-285750" algn="just">
              <a:lnSpc>
                <a:spcPct val="150000"/>
              </a:lnSpc>
              <a:buFont typeface="Arial" panose="020B0604020202020204" pitchFamily="34" charset="0"/>
              <a:buChar char="•"/>
            </a:pPr>
            <a:r>
              <a:rPr lang="en-IN" dirty="0">
                <a:solidFill>
                  <a:schemeClr val="bg1"/>
                </a:solidFill>
              </a:rPr>
              <a:t>Extract frames and preprocess</a:t>
            </a:r>
          </a:p>
          <a:p>
            <a:pPr marL="285750" indent="-285750" algn="just">
              <a:lnSpc>
                <a:spcPct val="150000"/>
              </a:lnSpc>
              <a:buFont typeface="Arial" panose="020B0604020202020204" pitchFamily="34" charset="0"/>
              <a:buChar char="•"/>
            </a:pPr>
            <a:r>
              <a:rPr lang="en-IN" dirty="0">
                <a:solidFill>
                  <a:schemeClr val="bg1"/>
                </a:solidFill>
              </a:rPr>
              <a:t>Predict action using trained model</a:t>
            </a:r>
          </a:p>
          <a:p>
            <a:pPr algn="just">
              <a:lnSpc>
                <a:spcPct val="150000"/>
              </a:lnSpc>
            </a:pPr>
            <a:r>
              <a:rPr lang="en-IN" dirty="0">
                <a:solidFill>
                  <a:schemeClr val="bg1"/>
                </a:solidFill>
              </a:rPr>
              <a:t>Step 6: Result Display</a:t>
            </a:r>
          </a:p>
          <a:p>
            <a:pPr marL="285750" indent="-285750" algn="just">
              <a:lnSpc>
                <a:spcPct val="150000"/>
              </a:lnSpc>
              <a:buFont typeface="Arial" panose="020B0604020202020204" pitchFamily="34" charset="0"/>
              <a:buChar char="•"/>
            </a:pPr>
            <a:r>
              <a:rPr lang="en-IN" dirty="0">
                <a:solidFill>
                  <a:schemeClr val="bg1"/>
                </a:solidFill>
              </a:rPr>
              <a:t>Show predicted action on screen</a:t>
            </a:r>
          </a:p>
          <a:p>
            <a:pPr marL="285750" indent="-285750" algn="just">
              <a:lnSpc>
                <a:spcPct val="150000"/>
              </a:lnSpc>
              <a:buFont typeface="Arial" panose="020B0604020202020204" pitchFamily="34" charset="0"/>
              <a:buChar char="•"/>
            </a:pPr>
            <a:r>
              <a:rPr lang="en-IN" dirty="0">
                <a:solidFill>
                  <a:schemeClr val="bg1"/>
                </a:solidFill>
              </a:rPr>
              <a:t>User-friendly web application (Flask)</a:t>
            </a:r>
          </a:p>
        </p:txBody>
      </p:sp>
    </p:spTree>
    <p:extLst>
      <p:ext uri="{BB962C8B-B14F-4D97-AF65-F5344CB8AC3E}">
        <p14:creationId xmlns:p14="http://schemas.microsoft.com/office/powerpoint/2010/main" val="1684932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411480"/>
            <a:ext cx="8229600" cy="502920"/>
          </a:xfrm>
          <a:prstGeom prst="rect">
            <a:avLst/>
          </a:prstGeom>
          <a:noFill/>
          <a:ln/>
        </p:spPr>
        <p:txBody>
          <a:bodyPr wrap="square" lIns="0" tIns="0" rIns="0" bIns="0" rtlCol="0" anchor="ctr"/>
          <a:lstStyle/>
          <a:p>
            <a:pPr marL="0" indent="0">
              <a:buNone/>
            </a:pPr>
            <a:r>
              <a:rPr lang="en-US" sz="2800" b="1" dirty="0">
                <a:solidFill>
                  <a:srgbClr val="F5F7FB"/>
                </a:solidFill>
              </a:rPr>
              <a:t>1. Project objective and scope</a:t>
            </a:r>
            <a:endParaRPr lang="en-US" sz="2800" dirty="0"/>
          </a:p>
        </p:txBody>
      </p:sp>
      <p:sp>
        <p:nvSpPr>
          <p:cNvPr id="3" name="Text 1"/>
          <p:cNvSpPr/>
          <p:nvPr/>
        </p:nvSpPr>
        <p:spPr>
          <a:xfrm>
            <a:off x="502920" y="941832"/>
            <a:ext cx="7498080" cy="274320"/>
          </a:xfrm>
          <a:prstGeom prst="rect">
            <a:avLst/>
          </a:prstGeom>
          <a:noFill/>
          <a:ln/>
        </p:spPr>
        <p:txBody>
          <a:bodyPr wrap="square" lIns="0" tIns="0" rIns="0" bIns="0" rtlCol="0" anchor="ctr"/>
          <a:lstStyle/>
          <a:p>
            <a:pPr marL="0" indent="0">
              <a:buNone/>
            </a:pPr>
            <a:r>
              <a:rPr lang="en-US" sz="1300" dirty="0">
                <a:solidFill>
                  <a:srgbClr val="A8B2C8"/>
                </a:solidFill>
              </a:rPr>
              <a:t>Selected topic: human action recognition rather than gait-only analysis.</a:t>
            </a:r>
            <a:endParaRPr lang="en-US" sz="1300" dirty="0"/>
          </a:p>
        </p:txBody>
      </p:sp>
      <p:sp>
        <p:nvSpPr>
          <p:cNvPr id="4" name="Shape 2"/>
          <p:cNvSpPr/>
          <p:nvPr/>
        </p:nvSpPr>
        <p:spPr>
          <a:xfrm>
            <a:off x="548640" y="1417320"/>
            <a:ext cx="5349240" cy="4526280"/>
          </a:xfrm>
          <a:prstGeom prst="roundRect">
            <a:avLst>
              <a:gd name="adj" fmla="val 2020"/>
            </a:avLst>
          </a:prstGeom>
          <a:solidFill>
            <a:srgbClr val="121A2E"/>
          </a:solidFill>
          <a:ln w="12700">
            <a:solidFill>
              <a:srgbClr val="24324F"/>
            </a:solidFill>
            <a:prstDash val="solid"/>
          </a:ln>
        </p:spPr>
      </p:sp>
      <p:sp>
        <p:nvSpPr>
          <p:cNvPr id="5" name="Text 3"/>
          <p:cNvSpPr/>
          <p:nvPr/>
        </p:nvSpPr>
        <p:spPr>
          <a:xfrm>
            <a:off x="822960" y="1737360"/>
            <a:ext cx="1097280" cy="182880"/>
          </a:xfrm>
          <a:prstGeom prst="rect">
            <a:avLst/>
          </a:prstGeom>
          <a:noFill/>
          <a:ln/>
        </p:spPr>
        <p:txBody>
          <a:bodyPr wrap="square" lIns="0" tIns="0" rIns="0" bIns="0" rtlCol="0" anchor="ctr"/>
          <a:lstStyle/>
          <a:p>
            <a:pPr marL="0" indent="0">
              <a:buNone/>
            </a:pPr>
            <a:r>
              <a:rPr lang="en-US" sz="2200" b="1" dirty="0">
                <a:solidFill>
                  <a:srgbClr val="33C3F0"/>
                </a:solidFill>
              </a:rPr>
              <a:t>Goal</a:t>
            </a:r>
            <a:endParaRPr lang="en-US" sz="2200" dirty="0"/>
          </a:p>
        </p:txBody>
      </p:sp>
      <p:sp>
        <p:nvSpPr>
          <p:cNvPr id="6" name="Text 4"/>
          <p:cNvSpPr/>
          <p:nvPr/>
        </p:nvSpPr>
        <p:spPr>
          <a:xfrm>
            <a:off x="822960" y="1996751"/>
            <a:ext cx="4663440" cy="2148840"/>
          </a:xfrm>
          <a:prstGeom prst="rect">
            <a:avLst/>
          </a:prstGeom>
          <a:noFill/>
          <a:ln/>
        </p:spPr>
        <p:txBody>
          <a:bodyPr wrap="square" lIns="508" tIns="508" rIns="508" bIns="508" rtlCol="0" anchor="ctr"/>
          <a:lstStyle/>
          <a:p>
            <a:pPr marL="177800" indent="-177800">
              <a:buSzPct val="100000"/>
              <a:buChar char="•"/>
            </a:pPr>
            <a:r>
              <a:rPr lang="en-US" sz="1800" dirty="0">
                <a:solidFill>
                  <a:srgbClr val="F5F7FB"/>
                </a:solidFill>
              </a:rPr>
              <a:t>Accept an uploaded video of one person performing an action.</a:t>
            </a:r>
            <a:endParaRPr lang="en-US" sz="1800" dirty="0"/>
          </a:p>
          <a:p>
            <a:pPr marL="177800" indent="-177800">
              <a:buSzPct val="100000"/>
              <a:buChar char="•"/>
            </a:pPr>
            <a:r>
              <a:rPr lang="en-US" sz="1800" dirty="0">
                <a:solidFill>
                  <a:srgbClr val="F5F7FB"/>
                </a:solidFill>
              </a:rPr>
              <a:t>Predict the action label such as walking, jogging, running, boxing, handclapping, or handwaving.</a:t>
            </a:r>
            <a:endParaRPr lang="en-US" sz="1800" dirty="0"/>
          </a:p>
          <a:p>
            <a:pPr marL="177800" indent="-177800">
              <a:buSzPct val="100000"/>
              <a:buChar char="•"/>
            </a:pPr>
            <a:r>
              <a:rPr lang="en-US" sz="1800" dirty="0">
                <a:solidFill>
                  <a:srgbClr val="F5F7FB"/>
                </a:solidFill>
              </a:rPr>
              <a:t>Show the result in a simple web interface with video preview and confidence score.</a:t>
            </a:r>
            <a:endParaRPr lang="en-US" sz="1800" dirty="0"/>
          </a:p>
        </p:txBody>
      </p:sp>
      <p:sp>
        <p:nvSpPr>
          <p:cNvPr id="7" name="Text 5"/>
          <p:cNvSpPr/>
          <p:nvPr/>
        </p:nvSpPr>
        <p:spPr>
          <a:xfrm>
            <a:off x="841248" y="4233672"/>
            <a:ext cx="1645920" cy="182880"/>
          </a:xfrm>
          <a:prstGeom prst="rect">
            <a:avLst/>
          </a:prstGeom>
          <a:noFill/>
          <a:ln/>
        </p:spPr>
        <p:txBody>
          <a:bodyPr wrap="square" lIns="0" tIns="0" rIns="0" bIns="0" rtlCol="0" anchor="ctr"/>
          <a:lstStyle/>
          <a:p>
            <a:pPr marL="0" indent="0">
              <a:buNone/>
            </a:pPr>
            <a:r>
              <a:rPr lang="en-US" sz="2000" b="1" dirty="0">
                <a:solidFill>
                  <a:srgbClr val="F59E0B"/>
                </a:solidFill>
              </a:rPr>
              <a:t>Why this topic?</a:t>
            </a:r>
            <a:endParaRPr lang="en-US" sz="2000" dirty="0"/>
          </a:p>
        </p:txBody>
      </p:sp>
      <p:sp>
        <p:nvSpPr>
          <p:cNvPr id="8" name="Text 6"/>
          <p:cNvSpPr/>
          <p:nvPr/>
        </p:nvSpPr>
        <p:spPr>
          <a:xfrm>
            <a:off x="841248" y="4828032"/>
            <a:ext cx="4663440" cy="868680"/>
          </a:xfrm>
          <a:prstGeom prst="rect">
            <a:avLst/>
          </a:prstGeom>
          <a:noFill/>
          <a:ln/>
        </p:spPr>
        <p:txBody>
          <a:bodyPr wrap="square" lIns="508" tIns="508" rIns="508" bIns="508" rtlCol="0" anchor="ctr"/>
          <a:lstStyle/>
          <a:p>
            <a:pPr marL="177800" indent="-177800">
              <a:buSzPct val="100000"/>
              <a:buChar char="•"/>
            </a:pPr>
            <a:r>
              <a:rPr lang="en-US" sz="1700" dirty="0">
                <a:solidFill>
                  <a:srgbClr val="F5F7FB"/>
                </a:solidFill>
              </a:rPr>
              <a:t>Easier to explain and demonstrate than a gait re-identification system.</a:t>
            </a:r>
            <a:endParaRPr lang="en-US" sz="1700" dirty="0"/>
          </a:p>
          <a:p>
            <a:pPr marL="177800" indent="-177800">
              <a:buSzPct val="100000"/>
              <a:buChar char="•"/>
            </a:pPr>
            <a:r>
              <a:rPr lang="en-US" sz="1700" dirty="0">
                <a:solidFill>
                  <a:srgbClr val="F5F7FB"/>
                </a:solidFill>
              </a:rPr>
              <a:t>Can be implemented with standard student-friendly tools: OpenCV, TensorFlow/Keras, Flask.</a:t>
            </a:r>
            <a:endParaRPr lang="en-US" sz="1700" dirty="0"/>
          </a:p>
        </p:txBody>
      </p:sp>
      <p:sp>
        <p:nvSpPr>
          <p:cNvPr id="9" name="Text 7"/>
          <p:cNvSpPr/>
          <p:nvPr/>
        </p:nvSpPr>
        <p:spPr>
          <a:xfrm>
            <a:off x="6355080" y="1664208"/>
            <a:ext cx="2286000" cy="182880"/>
          </a:xfrm>
          <a:prstGeom prst="rect">
            <a:avLst/>
          </a:prstGeom>
          <a:noFill/>
          <a:ln/>
        </p:spPr>
        <p:txBody>
          <a:bodyPr wrap="square" lIns="0" tIns="0" rIns="0" bIns="0" rtlCol="0" anchor="ctr"/>
          <a:lstStyle/>
          <a:p>
            <a:pPr marL="0" indent="0">
              <a:buNone/>
            </a:pPr>
            <a:r>
              <a:rPr lang="en-US" sz="2200" b="1" dirty="0">
                <a:solidFill>
                  <a:srgbClr val="F5F7FB"/>
                </a:solidFill>
              </a:rPr>
              <a:t>Target action classes</a:t>
            </a:r>
            <a:endParaRPr lang="en-US" sz="2200" dirty="0"/>
          </a:p>
        </p:txBody>
      </p:sp>
      <p:sp>
        <p:nvSpPr>
          <p:cNvPr id="10" name="Shape 8"/>
          <p:cNvSpPr/>
          <p:nvPr/>
        </p:nvSpPr>
        <p:spPr>
          <a:xfrm>
            <a:off x="6355080" y="2103120"/>
            <a:ext cx="2148840" cy="749808"/>
          </a:xfrm>
          <a:prstGeom prst="roundRect">
            <a:avLst>
              <a:gd name="adj" fmla="val 8537"/>
            </a:avLst>
          </a:prstGeom>
          <a:solidFill>
            <a:srgbClr val="22C55E">
              <a:alpha val="82000"/>
            </a:srgbClr>
          </a:solidFill>
          <a:ln w="15240">
            <a:solidFill>
              <a:srgbClr val="22C55E"/>
            </a:solidFill>
            <a:prstDash val="solid"/>
          </a:ln>
        </p:spPr>
      </p:sp>
      <p:sp>
        <p:nvSpPr>
          <p:cNvPr id="11" name="Text 9"/>
          <p:cNvSpPr/>
          <p:nvPr/>
        </p:nvSpPr>
        <p:spPr>
          <a:xfrm>
            <a:off x="6464808" y="2359152"/>
            <a:ext cx="1920240" cy="146304"/>
          </a:xfrm>
          <a:prstGeom prst="rect">
            <a:avLst/>
          </a:prstGeom>
          <a:noFill/>
          <a:ln/>
        </p:spPr>
        <p:txBody>
          <a:bodyPr wrap="square" lIns="0" tIns="0" rIns="0" bIns="0" rtlCol="0" anchor="ctr"/>
          <a:lstStyle/>
          <a:p>
            <a:pPr marL="0" indent="0" algn="ctr">
              <a:buNone/>
            </a:pPr>
            <a:r>
              <a:rPr lang="en-US" sz="1800" b="1" dirty="0">
                <a:solidFill>
                  <a:srgbClr val="FFFFFF"/>
                </a:solidFill>
              </a:rPr>
              <a:t>Walking</a:t>
            </a:r>
            <a:endParaRPr lang="en-US" sz="1800" dirty="0"/>
          </a:p>
        </p:txBody>
      </p:sp>
      <p:sp>
        <p:nvSpPr>
          <p:cNvPr id="12" name="Shape 10"/>
          <p:cNvSpPr/>
          <p:nvPr/>
        </p:nvSpPr>
        <p:spPr>
          <a:xfrm>
            <a:off x="8842248" y="2103120"/>
            <a:ext cx="2148840" cy="749808"/>
          </a:xfrm>
          <a:prstGeom prst="roundRect">
            <a:avLst>
              <a:gd name="adj" fmla="val 8537"/>
            </a:avLst>
          </a:prstGeom>
          <a:solidFill>
            <a:srgbClr val="5B7CFA">
              <a:alpha val="82000"/>
            </a:srgbClr>
          </a:solidFill>
          <a:ln w="15240">
            <a:solidFill>
              <a:srgbClr val="5B7CFA"/>
            </a:solidFill>
            <a:prstDash val="solid"/>
          </a:ln>
        </p:spPr>
      </p:sp>
      <p:sp>
        <p:nvSpPr>
          <p:cNvPr id="13" name="Text 11"/>
          <p:cNvSpPr/>
          <p:nvPr/>
        </p:nvSpPr>
        <p:spPr>
          <a:xfrm>
            <a:off x="8951976" y="2359152"/>
            <a:ext cx="1920240" cy="146304"/>
          </a:xfrm>
          <a:prstGeom prst="rect">
            <a:avLst/>
          </a:prstGeom>
          <a:noFill/>
          <a:ln/>
        </p:spPr>
        <p:txBody>
          <a:bodyPr wrap="square" lIns="0" tIns="0" rIns="0" bIns="0" rtlCol="0" anchor="ctr"/>
          <a:lstStyle/>
          <a:p>
            <a:pPr marL="0" indent="0" algn="ctr">
              <a:buNone/>
            </a:pPr>
            <a:r>
              <a:rPr lang="en-US" sz="1800" b="1" dirty="0">
                <a:solidFill>
                  <a:srgbClr val="FFFFFF"/>
                </a:solidFill>
              </a:rPr>
              <a:t>Jogging</a:t>
            </a:r>
            <a:endParaRPr lang="en-US" sz="1800" dirty="0"/>
          </a:p>
        </p:txBody>
      </p:sp>
      <p:sp>
        <p:nvSpPr>
          <p:cNvPr id="14" name="Shape 12"/>
          <p:cNvSpPr/>
          <p:nvPr/>
        </p:nvSpPr>
        <p:spPr>
          <a:xfrm>
            <a:off x="6355080" y="3154680"/>
            <a:ext cx="2148840" cy="749808"/>
          </a:xfrm>
          <a:prstGeom prst="roundRect">
            <a:avLst>
              <a:gd name="adj" fmla="val 8537"/>
            </a:avLst>
          </a:prstGeom>
          <a:solidFill>
            <a:srgbClr val="EF4444">
              <a:alpha val="82000"/>
            </a:srgbClr>
          </a:solidFill>
          <a:ln w="15240">
            <a:solidFill>
              <a:srgbClr val="EF4444"/>
            </a:solidFill>
            <a:prstDash val="solid"/>
          </a:ln>
        </p:spPr>
      </p:sp>
      <p:sp>
        <p:nvSpPr>
          <p:cNvPr id="15" name="Text 13"/>
          <p:cNvSpPr/>
          <p:nvPr/>
        </p:nvSpPr>
        <p:spPr>
          <a:xfrm>
            <a:off x="6464808" y="3410712"/>
            <a:ext cx="1920240" cy="146304"/>
          </a:xfrm>
          <a:prstGeom prst="rect">
            <a:avLst/>
          </a:prstGeom>
          <a:noFill/>
          <a:ln/>
        </p:spPr>
        <p:txBody>
          <a:bodyPr wrap="square" lIns="0" tIns="0" rIns="0" bIns="0" rtlCol="0" anchor="ctr"/>
          <a:lstStyle/>
          <a:p>
            <a:pPr marL="0" indent="0" algn="ctr">
              <a:buNone/>
            </a:pPr>
            <a:r>
              <a:rPr lang="en-US" sz="1800" b="1" dirty="0">
                <a:solidFill>
                  <a:srgbClr val="FFFFFF"/>
                </a:solidFill>
              </a:rPr>
              <a:t>Running</a:t>
            </a:r>
            <a:endParaRPr lang="en-US" sz="1800" dirty="0"/>
          </a:p>
        </p:txBody>
      </p:sp>
      <p:sp>
        <p:nvSpPr>
          <p:cNvPr id="16" name="Shape 14"/>
          <p:cNvSpPr/>
          <p:nvPr/>
        </p:nvSpPr>
        <p:spPr>
          <a:xfrm>
            <a:off x="8842248" y="3154680"/>
            <a:ext cx="2148840" cy="749808"/>
          </a:xfrm>
          <a:prstGeom prst="roundRect">
            <a:avLst>
              <a:gd name="adj" fmla="val 8537"/>
            </a:avLst>
          </a:prstGeom>
          <a:solidFill>
            <a:srgbClr val="F59E0B">
              <a:alpha val="82000"/>
            </a:srgbClr>
          </a:solidFill>
          <a:ln w="15240">
            <a:solidFill>
              <a:srgbClr val="F59E0B"/>
            </a:solidFill>
            <a:prstDash val="solid"/>
          </a:ln>
        </p:spPr>
      </p:sp>
      <p:sp>
        <p:nvSpPr>
          <p:cNvPr id="17" name="Text 15"/>
          <p:cNvSpPr/>
          <p:nvPr/>
        </p:nvSpPr>
        <p:spPr>
          <a:xfrm>
            <a:off x="8951976" y="3410712"/>
            <a:ext cx="1920240" cy="146304"/>
          </a:xfrm>
          <a:prstGeom prst="rect">
            <a:avLst/>
          </a:prstGeom>
          <a:noFill/>
          <a:ln/>
        </p:spPr>
        <p:txBody>
          <a:bodyPr wrap="square" lIns="0" tIns="0" rIns="0" bIns="0" rtlCol="0" anchor="ctr"/>
          <a:lstStyle/>
          <a:p>
            <a:pPr marL="0" indent="0" algn="ctr">
              <a:buNone/>
            </a:pPr>
            <a:r>
              <a:rPr lang="en-US" sz="1800" b="1" dirty="0">
                <a:solidFill>
                  <a:srgbClr val="FFFFFF"/>
                </a:solidFill>
              </a:rPr>
              <a:t>Boxing</a:t>
            </a:r>
            <a:endParaRPr lang="en-US" sz="1800" dirty="0"/>
          </a:p>
        </p:txBody>
      </p:sp>
      <p:sp>
        <p:nvSpPr>
          <p:cNvPr id="18" name="Shape 16"/>
          <p:cNvSpPr/>
          <p:nvPr/>
        </p:nvSpPr>
        <p:spPr>
          <a:xfrm>
            <a:off x="6355080" y="4206240"/>
            <a:ext cx="2148840" cy="749808"/>
          </a:xfrm>
          <a:prstGeom prst="roundRect">
            <a:avLst>
              <a:gd name="adj" fmla="val 8537"/>
            </a:avLst>
          </a:prstGeom>
          <a:solidFill>
            <a:srgbClr val="33C3F0">
              <a:alpha val="82000"/>
            </a:srgbClr>
          </a:solidFill>
          <a:ln w="15240">
            <a:solidFill>
              <a:srgbClr val="33C3F0"/>
            </a:solidFill>
            <a:prstDash val="solid"/>
          </a:ln>
        </p:spPr>
      </p:sp>
      <p:sp>
        <p:nvSpPr>
          <p:cNvPr id="19" name="Text 17"/>
          <p:cNvSpPr/>
          <p:nvPr/>
        </p:nvSpPr>
        <p:spPr>
          <a:xfrm>
            <a:off x="6464808" y="4462272"/>
            <a:ext cx="1920240" cy="146304"/>
          </a:xfrm>
          <a:prstGeom prst="rect">
            <a:avLst/>
          </a:prstGeom>
          <a:noFill/>
          <a:ln/>
        </p:spPr>
        <p:txBody>
          <a:bodyPr wrap="square" lIns="0" tIns="0" rIns="0" bIns="0" rtlCol="0" anchor="ctr"/>
          <a:lstStyle/>
          <a:p>
            <a:pPr marL="0" indent="0" algn="ctr">
              <a:buNone/>
            </a:pPr>
            <a:r>
              <a:rPr lang="en-US" sz="1800" b="1" dirty="0">
                <a:solidFill>
                  <a:srgbClr val="FFFFFF"/>
                </a:solidFill>
              </a:rPr>
              <a:t>Hand clapping</a:t>
            </a:r>
            <a:endParaRPr lang="en-US" sz="1800" dirty="0"/>
          </a:p>
        </p:txBody>
      </p:sp>
      <p:sp>
        <p:nvSpPr>
          <p:cNvPr id="20" name="Shape 18"/>
          <p:cNvSpPr/>
          <p:nvPr/>
        </p:nvSpPr>
        <p:spPr>
          <a:xfrm>
            <a:off x="8842248" y="4206240"/>
            <a:ext cx="2148840" cy="749808"/>
          </a:xfrm>
          <a:prstGeom prst="roundRect">
            <a:avLst>
              <a:gd name="adj" fmla="val 8537"/>
            </a:avLst>
          </a:prstGeom>
          <a:solidFill>
            <a:srgbClr val="8B5CF6">
              <a:alpha val="82000"/>
            </a:srgbClr>
          </a:solidFill>
          <a:ln w="15240">
            <a:solidFill>
              <a:srgbClr val="8B5CF6"/>
            </a:solidFill>
            <a:prstDash val="solid"/>
          </a:ln>
        </p:spPr>
      </p:sp>
      <p:sp>
        <p:nvSpPr>
          <p:cNvPr id="21" name="Text 19"/>
          <p:cNvSpPr/>
          <p:nvPr/>
        </p:nvSpPr>
        <p:spPr>
          <a:xfrm>
            <a:off x="8951976" y="4462272"/>
            <a:ext cx="1920240" cy="146304"/>
          </a:xfrm>
          <a:prstGeom prst="rect">
            <a:avLst/>
          </a:prstGeom>
          <a:noFill/>
          <a:ln/>
        </p:spPr>
        <p:txBody>
          <a:bodyPr wrap="square" lIns="0" tIns="0" rIns="0" bIns="0" rtlCol="0" anchor="ctr"/>
          <a:lstStyle/>
          <a:p>
            <a:pPr marL="0" indent="0" algn="ctr">
              <a:buNone/>
            </a:pPr>
            <a:r>
              <a:rPr lang="en-US" sz="1800" b="1" dirty="0">
                <a:solidFill>
                  <a:srgbClr val="FFFFFF"/>
                </a:solidFill>
              </a:rPr>
              <a:t>Hand waving</a:t>
            </a:r>
            <a:endParaRPr lang="en-US" sz="1800" dirty="0"/>
          </a:p>
        </p:txBody>
      </p:sp>
      <p:sp>
        <p:nvSpPr>
          <p:cNvPr id="22" name="Text 20"/>
          <p:cNvSpPr/>
          <p:nvPr/>
        </p:nvSpPr>
        <p:spPr>
          <a:xfrm>
            <a:off x="6355080" y="5422392"/>
            <a:ext cx="2103120" cy="182880"/>
          </a:xfrm>
          <a:prstGeom prst="rect">
            <a:avLst/>
          </a:prstGeom>
          <a:noFill/>
          <a:ln/>
        </p:spPr>
        <p:txBody>
          <a:bodyPr wrap="square" lIns="0" tIns="0" rIns="0" bIns="0" rtlCol="0" anchor="ctr"/>
          <a:lstStyle/>
          <a:p>
            <a:pPr marL="0" indent="0">
              <a:buNone/>
            </a:pPr>
            <a:r>
              <a:rPr lang="en-US" sz="1800" b="1" dirty="0">
                <a:solidFill>
                  <a:srgbClr val="F5F7FB"/>
                </a:solidFill>
              </a:rPr>
              <a:t>Scope in this phase</a:t>
            </a:r>
            <a:endParaRPr lang="en-US" sz="1800" dirty="0"/>
          </a:p>
        </p:txBody>
      </p:sp>
      <p:sp>
        <p:nvSpPr>
          <p:cNvPr id="23" name="Text 21"/>
          <p:cNvSpPr/>
          <p:nvPr/>
        </p:nvSpPr>
        <p:spPr>
          <a:xfrm>
            <a:off x="6355080" y="5650992"/>
            <a:ext cx="4846320" cy="365760"/>
          </a:xfrm>
          <a:prstGeom prst="rect">
            <a:avLst/>
          </a:prstGeom>
          <a:noFill/>
          <a:ln/>
        </p:spPr>
        <p:txBody>
          <a:bodyPr wrap="square" lIns="0" tIns="0" rIns="0" bIns="0" rtlCol="0" anchor="ctr"/>
          <a:lstStyle/>
          <a:p>
            <a:pPr marL="0" indent="0">
              <a:buNone/>
            </a:pPr>
            <a:r>
              <a:rPr lang="en-US" sz="1600" dirty="0">
                <a:solidFill>
                  <a:srgbClr val="A8B2C8"/>
                </a:solidFill>
              </a:rPr>
              <a:t>Single-person uploaded-video classification; not real-time multi-person recognition.</a:t>
            </a:r>
            <a:endParaRPr lang="en-US" sz="1600" dirty="0"/>
          </a:p>
        </p:txBody>
      </p:sp>
      <p:sp>
        <p:nvSpPr>
          <p:cNvPr id="25" name="Slide Number Placeholder 0"/>
          <p:cNvSpPr>
            <a:spLocks noGrp="1"/>
          </p:cNvSpPr>
          <p:nvPr>
            <p:ph type="sldNum" sz="quarter" idx="4294967295"/>
          </p:nvPr>
        </p:nvSpPr>
        <p:spPr>
          <a:xfrm>
            <a:off x="11795760" y="6446520"/>
            <a:ext cx="22860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9AA7C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411480"/>
            <a:ext cx="8229600" cy="502920"/>
          </a:xfrm>
          <a:prstGeom prst="rect">
            <a:avLst/>
          </a:prstGeom>
          <a:noFill/>
          <a:ln/>
        </p:spPr>
        <p:txBody>
          <a:bodyPr wrap="square" lIns="0" tIns="0" rIns="0" bIns="0" rtlCol="0" anchor="ctr"/>
          <a:lstStyle/>
          <a:p>
            <a:pPr marL="0" indent="0">
              <a:buNone/>
            </a:pPr>
            <a:r>
              <a:rPr lang="en-US" sz="2800" b="1" dirty="0">
                <a:solidFill>
                  <a:srgbClr val="F5F7FB"/>
                </a:solidFill>
              </a:rPr>
              <a:t>2. Dataset preparation completed</a:t>
            </a:r>
            <a:endParaRPr lang="en-US" sz="2800" dirty="0"/>
          </a:p>
        </p:txBody>
      </p:sp>
      <p:sp>
        <p:nvSpPr>
          <p:cNvPr id="3" name="Text 1"/>
          <p:cNvSpPr/>
          <p:nvPr/>
        </p:nvSpPr>
        <p:spPr>
          <a:xfrm>
            <a:off x="502920" y="941832"/>
            <a:ext cx="7498080" cy="274320"/>
          </a:xfrm>
          <a:prstGeom prst="rect">
            <a:avLst/>
          </a:prstGeom>
          <a:noFill/>
          <a:ln/>
        </p:spPr>
        <p:txBody>
          <a:bodyPr wrap="square" lIns="0" tIns="0" rIns="0" bIns="0" rtlCol="0" anchor="ctr"/>
          <a:lstStyle/>
          <a:p>
            <a:pPr marL="0" indent="0">
              <a:buNone/>
            </a:pPr>
            <a:r>
              <a:rPr lang="en-US" sz="1300" dirty="0">
                <a:solidFill>
                  <a:srgbClr val="A8B2C8"/>
                </a:solidFill>
              </a:rPr>
              <a:t>KTH was chosen because it directly matches the six target actions and is manageable for a student project.</a:t>
            </a:r>
            <a:endParaRPr lang="en-US" sz="1300" dirty="0"/>
          </a:p>
        </p:txBody>
      </p:sp>
      <p:sp>
        <p:nvSpPr>
          <p:cNvPr id="4" name="Shape 2"/>
          <p:cNvSpPr/>
          <p:nvPr/>
        </p:nvSpPr>
        <p:spPr>
          <a:xfrm>
            <a:off x="594360" y="1417320"/>
            <a:ext cx="3886200" cy="4754880"/>
          </a:xfrm>
          <a:prstGeom prst="roundRect">
            <a:avLst>
              <a:gd name="adj" fmla="val 1882"/>
            </a:avLst>
          </a:prstGeom>
          <a:solidFill>
            <a:srgbClr val="121A2E"/>
          </a:solidFill>
          <a:ln w="12700">
            <a:solidFill>
              <a:srgbClr val="24324F"/>
            </a:solidFill>
            <a:prstDash val="solid"/>
          </a:ln>
        </p:spPr>
      </p:sp>
      <p:sp>
        <p:nvSpPr>
          <p:cNvPr id="5" name="Text 3"/>
          <p:cNvSpPr/>
          <p:nvPr/>
        </p:nvSpPr>
        <p:spPr>
          <a:xfrm>
            <a:off x="868680" y="1737360"/>
            <a:ext cx="1920240" cy="182880"/>
          </a:xfrm>
          <a:prstGeom prst="rect">
            <a:avLst/>
          </a:prstGeom>
          <a:noFill/>
          <a:ln/>
        </p:spPr>
        <p:txBody>
          <a:bodyPr wrap="square" lIns="0" tIns="0" rIns="0" bIns="0" rtlCol="0" anchor="ctr"/>
          <a:lstStyle/>
          <a:p>
            <a:pPr marL="0" indent="0">
              <a:buNone/>
            </a:pPr>
            <a:r>
              <a:rPr lang="en-US" sz="2200" b="1" dirty="0">
                <a:solidFill>
                  <a:srgbClr val="F5F7FB"/>
                </a:solidFill>
              </a:rPr>
              <a:t>Dataset used</a:t>
            </a:r>
            <a:endParaRPr lang="en-US" sz="2200" dirty="0"/>
          </a:p>
        </p:txBody>
      </p:sp>
      <p:sp>
        <p:nvSpPr>
          <p:cNvPr id="6" name="Text 4"/>
          <p:cNvSpPr/>
          <p:nvPr/>
        </p:nvSpPr>
        <p:spPr>
          <a:xfrm>
            <a:off x="868680" y="2283014"/>
            <a:ext cx="2926080" cy="182880"/>
          </a:xfrm>
          <a:prstGeom prst="rect">
            <a:avLst/>
          </a:prstGeom>
          <a:noFill/>
          <a:ln/>
        </p:spPr>
        <p:txBody>
          <a:bodyPr wrap="square" lIns="0" tIns="0" rIns="0" bIns="0" rtlCol="0" anchor="ctr"/>
          <a:lstStyle/>
          <a:p>
            <a:pPr marL="0" indent="0">
              <a:buNone/>
            </a:pPr>
            <a:r>
              <a:rPr lang="en-US" sz="2000" b="1" dirty="0">
                <a:solidFill>
                  <a:srgbClr val="33C3F0"/>
                </a:solidFill>
              </a:rPr>
              <a:t>KTH Human Actions Dataset</a:t>
            </a:r>
            <a:endParaRPr lang="en-US" sz="2000" dirty="0"/>
          </a:p>
        </p:txBody>
      </p:sp>
      <p:sp>
        <p:nvSpPr>
          <p:cNvPr id="7" name="Text 5"/>
          <p:cNvSpPr/>
          <p:nvPr/>
        </p:nvSpPr>
        <p:spPr>
          <a:xfrm>
            <a:off x="685800" y="3169982"/>
            <a:ext cx="3291840" cy="1920240"/>
          </a:xfrm>
          <a:prstGeom prst="rect">
            <a:avLst/>
          </a:prstGeom>
          <a:noFill/>
          <a:ln/>
        </p:spPr>
        <p:txBody>
          <a:bodyPr wrap="square" lIns="508" tIns="508" rIns="508" bIns="508" rtlCol="0" anchor="ctr"/>
          <a:lstStyle/>
          <a:p>
            <a:pPr marL="177800" indent="-177800">
              <a:buSzPct val="100000"/>
              <a:buChar char="•"/>
            </a:pPr>
            <a:r>
              <a:rPr lang="en-US" sz="1700" dirty="0">
                <a:solidFill>
                  <a:srgbClr val="F5F7FB"/>
                </a:solidFill>
              </a:rPr>
              <a:t>Six actions: walking, jogging, running, boxing, handwaving, handclapping.</a:t>
            </a:r>
            <a:endParaRPr lang="en-US" sz="1700" dirty="0"/>
          </a:p>
          <a:p>
            <a:pPr marL="177800" indent="-177800">
              <a:buSzPct val="100000"/>
              <a:buChar char="•"/>
            </a:pPr>
            <a:r>
              <a:rPr lang="en-US" sz="1700" dirty="0">
                <a:solidFill>
                  <a:srgbClr val="F5F7FB"/>
                </a:solidFill>
              </a:rPr>
              <a:t>Videos arranged into action-wise folders for easy loading during training.</a:t>
            </a:r>
            <a:endParaRPr lang="en-US" sz="1700" dirty="0"/>
          </a:p>
          <a:p>
            <a:pPr marL="177800" indent="-177800">
              <a:buSzPct val="100000"/>
              <a:buChar char="•"/>
            </a:pPr>
            <a:r>
              <a:rPr lang="en-US" sz="1700" dirty="0">
                <a:solidFill>
                  <a:srgbClr val="F5F7FB"/>
                </a:solidFill>
              </a:rPr>
              <a:t>.avi files are acceptable for training because OpenCV can read video files frame by frame.</a:t>
            </a:r>
            <a:endParaRPr lang="en-US" sz="1700" dirty="0"/>
          </a:p>
        </p:txBody>
      </p:sp>
      <p:sp>
        <p:nvSpPr>
          <p:cNvPr id="8" name="Shape 6"/>
          <p:cNvSpPr/>
          <p:nvPr/>
        </p:nvSpPr>
        <p:spPr>
          <a:xfrm>
            <a:off x="4754880" y="1417320"/>
            <a:ext cx="2971800" cy="4754880"/>
          </a:xfrm>
          <a:prstGeom prst="roundRect">
            <a:avLst>
              <a:gd name="adj" fmla="val 2462"/>
            </a:avLst>
          </a:prstGeom>
          <a:solidFill>
            <a:srgbClr val="0C1323"/>
          </a:solidFill>
          <a:ln w="12700">
            <a:solidFill>
              <a:srgbClr val="31405F"/>
            </a:solidFill>
            <a:prstDash val="solid"/>
          </a:ln>
        </p:spPr>
      </p:sp>
      <p:sp>
        <p:nvSpPr>
          <p:cNvPr id="9" name="Text 7"/>
          <p:cNvSpPr/>
          <p:nvPr/>
        </p:nvSpPr>
        <p:spPr>
          <a:xfrm>
            <a:off x="5029200" y="1719072"/>
            <a:ext cx="1645920" cy="182880"/>
          </a:xfrm>
          <a:prstGeom prst="rect">
            <a:avLst/>
          </a:prstGeom>
          <a:noFill/>
          <a:ln/>
        </p:spPr>
        <p:txBody>
          <a:bodyPr wrap="square" lIns="0" tIns="0" rIns="0" bIns="0" rtlCol="0" anchor="ctr"/>
          <a:lstStyle/>
          <a:p>
            <a:pPr marL="0" indent="0">
              <a:buNone/>
            </a:pPr>
            <a:r>
              <a:rPr lang="en-US" sz="2000" b="1" dirty="0">
                <a:solidFill>
                  <a:srgbClr val="F5F7FB"/>
                </a:solidFill>
              </a:rPr>
              <a:t>Folder structure</a:t>
            </a:r>
            <a:endParaRPr lang="en-US" sz="2000" dirty="0"/>
          </a:p>
        </p:txBody>
      </p:sp>
      <p:sp>
        <p:nvSpPr>
          <p:cNvPr id="10" name="Text 8"/>
          <p:cNvSpPr/>
          <p:nvPr/>
        </p:nvSpPr>
        <p:spPr>
          <a:xfrm>
            <a:off x="5074920" y="2148840"/>
            <a:ext cx="2331720" cy="2971800"/>
          </a:xfrm>
          <a:prstGeom prst="rect">
            <a:avLst/>
          </a:prstGeom>
          <a:noFill/>
          <a:ln/>
        </p:spPr>
        <p:txBody>
          <a:bodyPr wrap="square" lIns="508" tIns="508" rIns="508" bIns="508" rtlCol="0" anchor="ctr"/>
          <a:lstStyle/>
          <a:p>
            <a:pPr marL="0" indent="0">
              <a:buNone/>
            </a:pPr>
            <a:r>
              <a:rPr lang="en-US" sz="1800" dirty="0">
                <a:solidFill>
                  <a:srgbClr val="D7E1F5"/>
                </a:solidFill>
                <a:latin typeface="Courier New" pitchFamily="34" charset="0"/>
                <a:ea typeface="Courier New" pitchFamily="34" charset="-122"/>
                <a:cs typeface="Courier New" pitchFamily="34" charset="-120"/>
              </a:rPr>
              <a:t>dataset/</a:t>
            </a:r>
            <a:endParaRPr lang="en-US" sz="1800" dirty="0"/>
          </a:p>
          <a:p>
            <a:pPr marL="0" indent="0">
              <a:buNone/>
            </a:pPr>
            <a:r>
              <a:rPr lang="en-US" sz="1800" dirty="0">
                <a:solidFill>
                  <a:srgbClr val="D7E1F5"/>
                </a:solidFill>
                <a:latin typeface="Courier New" pitchFamily="34" charset="0"/>
                <a:ea typeface="Courier New" pitchFamily="34" charset="-122"/>
                <a:cs typeface="Courier New" pitchFamily="34" charset="-120"/>
              </a:rPr>
              <a:t>├── walking/</a:t>
            </a:r>
            <a:endParaRPr lang="en-US" sz="1800" dirty="0"/>
          </a:p>
          <a:p>
            <a:pPr marL="0" indent="0">
              <a:buNone/>
            </a:pPr>
            <a:r>
              <a:rPr lang="en-US" sz="1800" dirty="0">
                <a:solidFill>
                  <a:srgbClr val="D7E1F5"/>
                </a:solidFill>
                <a:latin typeface="Courier New" pitchFamily="34" charset="0"/>
                <a:ea typeface="Courier New" pitchFamily="34" charset="-122"/>
                <a:cs typeface="Courier New" pitchFamily="34" charset="-120"/>
              </a:rPr>
              <a:t>├── jogging/</a:t>
            </a:r>
            <a:endParaRPr lang="en-US" sz="1800" dirty="0"/>
          </a:p>
          <a:p>
            <a:pPr marL="0" indent="0">
              <a:buNone/>
            </a:pPr>
            <a:r>
              <a:rPr lang="en-US" sz="1800" dirty="0">
                <a:solidFill>
                  <a:srgbClr val="D7E1F5"/>
                </a:solidFill>
                <a:latin typeface="Courier New" pitchFamily="34" charset="0"/>
                <a:ea typeface="Courier New" pitchFamily="34" charset="-122"/>
                <a:cs typeface="Courier New" pitchFamily="34" charset="-120"/>
              </a:rPr>
              <a:t>├── running/</a:t>
            </a:r>
            <a:endParaRPr lang="en-US" sz="1800" dirty="0"/>
          </a:p>
          <a:p>
            <a:pPr marL="0" indent="0">
              <a:buNone/>
            </a:pPr>
            <a:r>
              <a:rPr lang="en-US" sz="1800" dirty="0">
                <a:solidFill>
                  <a:srgbClr val="D7E1F5"/>
                </a:solidFill>
                <a:latin typeface="Courier New" pitchFamily="34" charset="0"/>
                <a:ea typeface="Courier New" pitchFamily="34" charset="-122"/>
                <a:cs typeface="Courier New" pitchFamily="34" charset="-120"/>
              </a:rPr>
              <a:t>├── boxing/</a:t>
            </a:r>
            <a:endParaRPr lang="en-US" sz="1800" dirty="0"/>
          </a:p>
          <a:p>
            <a:pPr marL="0" indent="0">
              <a:buNone/>
            </a:pPr>
            <a:r>
              <a:rPr lang="en-US" sz="1800" dirty="0">
                <a:solidFill>
                  <a:srgbClr val="D7E1F5"/>
                </a:solidFill>
                <a:latin typeface="Courier New" pitchFamily="34" charset="0"/>
                <a:ea typeface="Courier New" pitchFamily="34" charset="-122"/>
                <a:cs typeface="Courier New" pitchFamily="34" charset="-120"/>
              </a:rPr>
              <a:t>├── handclapping/</a:t>
            </a:r>
            <a:endParaRPr lang="en-US" sz="1800" dirty="0"/>
          </a:p>
          <a:p>
            <a:pPr marL="0" indent="0">
              <a:buNone/>
            </a:pPr>
            <a:r>
              <a:rPr lang="en-US" sz="1800" dirty="0">
                <a:solidFill>
                  <a:srgbClr val="D7E1F5"/>
                </a:solidFill>
                <a:latin typeface="Courier New" pitchFamily="34" charset="0"/>
                <a:ea typeface="Courier New" pitchFamily="34" charset="-122"/>
                <a:cs typeface="Courier New" pitchFamily="34" charset="-120"/>
              </a:rPr>
              <a:t>└── handwaving/</a:t>
            </a:r>
            <a:endParaRPr lang="en-US" sz="1800" dirty="0"/>
          </a:p>
        </p:txBody>
      </p:sp>
      <p:sp>
        <p:nvSpPr>
          <p:cNvPr id="11" name="Text 9"/>
          <p:cNvSpPr/>
          <p:nvPr/>
        </p:nvSpPr>
        <p:spPr>
          <a:xfrm>
            <a:off x="5074920" y="5486400"/>
            <a:ext cx="2240280" cy="164592"/>
          </a:xfrm>
          <a:prstGeom prst="rect">
            <a:avLst/>
          </a:prstGeom>
          <a:noFill/>
          <a:ln/>
        </p:spPr>
        <p:txBody>
          <a:bodyPr wrap="square" lIns="0" tIns="0" rIns="0" bIns="0" rtlCol="0" anchor="ctr"/>
          <a:lstStyle/>
          <a:p>
            <a:pPr marL="0" indent="0">
              <a:buNone/>
            </a:pPr>
            <a:r>
              <a:rPr lang="en-US" sz="1400" b="1" dirty="0">
                <a:solidFill>
                  <a:srgbClr val="22C55E"/>
                </a:solidFill>
              </a:rPr>
              <a:t>✓ Verified folders created and populated</a:t>
            </a:r>
            <a:endParaRPr lang="en-US" sz="1400" dirty="0"/>
          </a:p>
        </p:txBody>
      </p:sp>
      <p:sp>
        <p:nvSpPr>
          <p:cNvPr id="12" name="Shape 10"/>
          <p:cNvSpPr/>
          <p:nvPr/>
        </p:nvSpPr>
        <p:spPr>
          <a:xfrm>
            <a:off x="7973568" y="1417320"/>
            <a:ext cx="3611880" cy="4754880"/>
          </a:xfrm>
          <a:prstGeom prst="roundRect">
            <a:avLst>
              <a:gd name="adj" fmla="val 2025"/>
            </a:avLst>
          </a:prstGeom>
          <a:solidFill>
            <a:srgbClr val="16213D"/>
          </a:solidFill>
          <a:ln w="12700">
            <a:solidFill>
              <a:srgbClr val="24324F"/>
            </a:solidFill>
            <a:prstDash val="solid"/>
          </a:ln>
        </p:spPr>
      </p:sp>
      <p:sp>
        <p:nvSpPr>
          <p:cNvPr id="13" name="Shape 11"/>
          <p:cNvSpPr/>
          <p:nvPr/>
        </p:nvSpPr>
        <p:spPr>
          <a:xfrm>
            <a:off x="8275320" y="1874520"/>
            <a:ext cx="3017520" cy="804672"/>
          </a:xfrm>
          <a:prstGeom prst="roundRect">
            <a:avLst>
              <a:gd name="adj" fmla="val 7955"/>
            </a:avLst>
          </a:prstGeom>
          <a:solidFill>
            <a:srgbClr val="1A2748"/>
          </a:solidFill>
          <a:ln w="12700">
            <a:solidFill>
              <a:srgbClr val="2D4167"/>
            </a:solidFill>
            <a:prstDash val="solid"/>
          </a:ln>
        </p:spPr>
      </p:sp>
      <p:sp>
        <p:nvSpPr>
          <p:cNvPr id="14" name="Text 12"/>
          <p:cNvSpPr/>
          <p:nvPr/>
        </p:nvSpPr>
        <p:spPr>
          <a:xfrm>
            <a:off x="8458200" y="2039112"/>
            <a:ext cx="822960" cy="228600"/>
          </a:xfrm>
          <a:prstGeom prst="rect">
            <a:avLst/>
          </a:prstGeom>
          <a:noFill/>
          <a:ln/>
        </p:spPr>
        <p:txBody>
          <a:bodyPr wrap="square" lIns="0" tIns="0" rIns="0" bIns="0" rtlCol="0" anchor="ctr"/>
          <a:lstStyle/>
          <a:p>
            <a:pPr marL="0" indent="0">
              <a:buNone/>
            </a:pPr>
            <a:r>
              <a:rPr lang="en-US" sz="2600" b="1" dirty="0">
                <a:solidFill>
                  <a:srgbClr val="5B7CFA"/>
                </a:solidFill>
              </a:rPr>
              <a:t>6</a:t>
            </a:r>
            <a:endParaRPr lang="en-US" sz="2600" dirty="0"/>
          </a:p>
        </p:txBody>
      </p:sp>
      <p:sp>
        <p:nvSpPr>
          <p:cNvPr id="15" name="Text 13"/>
          <p:cNvSpPr/>
          <p:nvPr/>
        </p:nvSpPr>
        <p:spPr>
          <a:xfrm>
            <a:off x="9281160" y="2093976"/>
            <a:ext cx="1691640" cy="164592"/>
          </a:xfrm>
          <a:prstGeom prst="rect">
            <a:avLst/>
          </a:prstGeom>
          <a:noFill/>
          <a:ln/>
        </p:spPr>
        <p:txBody>
          <a:bodyPr wrap="square" lIns="0" tIns="0" rIns="0" bIns="0" rtlCol="0" anchor="ctr"/>
          <a:lstStyle/>
          <a:p>
            <a:pPr marL="0" indent="0">
              <a:buNone/>
            </a:pPr>
            <a:r>
              <a:rPr lang="en-US" sz="1600" dirty="0">
                <a:solidFill>
                  <a:srgbClr val="F5F7FB"/>
                </a:solidFill>
              </a:rPr>
              <a:t>action classes</a:t>
            </a:r>
            <a:endParaRPr lang="en-US" sz="1600" dirty="0"/>
          </a:p>
        </p:txBody>
      </p:sp>
      <p:sp>
        <p:nvSpPr>
          <p:cNvPr id="16" name="Shape 14"/>
          <p:cNvSpPr/>
          <p:nvPr/>
        </p:nvSpPr>
        <p:spPr>
          <a:xfrm>
            <a:off x="8275320" y="2971800"/>
            <a:ext cx="3017520" cy="804672"/>
          </a:xfrm>
          <a:prstGeom prst="roundRect">
            <a:avLst>
              <a:gd name="adj" fmla="val 7955"/>
            </a:avLst>
          </a:prstGeom>
          <a:solidFill>
            <a:srgbClr val="1A2748"/>
          </a:solidFill>
          <a:ln w="12700">
            <a:solidFill>
              <a:srgbClr val="2D4167"/>
            </a:solidFill>
            <a:prstDash val="solid"/>
          </a:ln>
        </p:spPr>
      </p:sp>
      <p:sp>
        <p:nvSpPr>
          <p:cNvPr id="17" name="Text 15"/>
          <p:cNvSpPr/>
          <p:nvPr/>
        </p:nvSpPr>
        <p:spPr>
          <a:xfrm>
            <a:off x="8458200" y="3136392"/>
            <a:ext cx="822960" cy="228600"/>
          </a:xfrm>
          <a:prstGeom prst="rect">
            <a:avLst/>
          </a:prstGeom>
          <a:noFill/>
          <a:ln/>
        </p:spPr>
        <p:txBody>
          <a:bodyPr wrap="square" lIns="0" tIns="0" rIns="0" bIns="0" rtlCol="0" anchor="ctr"/>
          <a:lstStyle/>
          <a:p>
            <a:pPr marL="0" indent="0">
              <a:buNone/>
            </a:pPr>
            <a:r>
              <a:rPr lang="en-US" sz="2600" b="1" dirty="0">
                <a:solidFill>
                  <a:srgbClr val="5B7CFA"/>
                </a:solidFill>
              </a:rPr>
              <a:t>AVI</a:t>
            </a:r>
            <a:endParaRPr lang="en-US" sz="2600" dirty="0"/>
          </a:p>
        </p:txBody>
      </p:sp>
      <p:sp>
        <p:nvSpPr>
          <p:cNvPr id="18" name="Text 16"/>
          <p:cNvSpPr/>
          <p:nvPr/>
        </p:nvSpPr>
        <p:spPr>
          <a:xfrm>
            <a:off x="9281160" y="3191256"/>
            <a:ext cx="1691640" cy="164592"/>
          </a:xfrm>
          <a:prstGeom prst="rect">
            <a:avLst/>
          </a:prstGeom>
          <a:noFill/>
          <a:ln/>
        </p:spPr>
        <p:txBody>
          <a:bodyPr wrap="square" lIns="0" tIns="0" rIns="0" bIns="0" rtlCol="0" anchor="ctr"/>
          <a:lstStyle/>
          <a:p>
            <a:pPr marL="0" indent="0">
              <a:buNone/>
            </a:pPr>
            <a:r>
              <a:rPr lang="en-US" sz="1600" dirty="0">
                <a:solidFill>
                  <a:srgbClr val="F5F7FB"/>
                </a:solidFill>
              </a:rPr>
              <a:t>training videos supported</a:t>
            </a:r>
            <a:endParaRPr lang="en-US" sz="1600" dirty="0"/>
          </a:p>
        </p:txBody>
      </p:sp>
      <p:sp>
        <p:nvSpPr>
          <p:cNvPr id="19" name="Shape 17"/>
          <p:cNvSpPr/>
          <p:nvPr/>
        </p:nvSpPr>
        <p:spPr>
          <a:xfrm>
            <a:off x="8275320" y="4069080"/>
            <a:ext cx="3017520" cy="804672"/>
          </a:xfrm>
          <a:prstGeom prst="roundRect">
            <a:avLst>
              <a:gd name="adj" fmla="val 7955"/>
            </a:avLst>
          </a:prstGeom>
          <a:solidFill>
            <a:srgbClr val="1A2748"/>
          </a:solidFill>
          <a:ln w="12700">
            <a:solidFill>
              <a:srgbClr val="2D4167"/>
            </a:solidFill>
            <a:prstDash val="solid"/>
          </a:ln>
        </p:spPr>
      </p:sp>
      <p:sp>
        <p:nvSpPr>
          <p:cNvPr id="20" name="Text 18"/>
          <p:cNvSpPr/>
          <p:nvPr/>
        </p:nvSpPr>
        <p:spPr>
          <a:xfrm>
            <a:off x="8458200" y="4233672"/>
            <a:ext cx="822960" cy="228600"/>
          </a:xfrm>
          <a:prstGeom prst="rect">
            <a:avLst/>
          </a:prstGeom>
          <a:noFill/>
          <a:ln/>
        </p:spPr>
        <p:txBody>
          <a:bodyPr wrap="square" lIns="0" tIns="0" rIns="0" bIns="0" rtlCol="0" anchor="ctr"/>
          <a:lstStyle/>
          <a:p>
            <a:pPr marL="0" indent="0">
              <a:buNone/>
            </a:pPr>
            <a:r>
              <a:rPr lang="en-US" sz="2600" b="1" dirty="0">
                <a:solidFill>
                  <a:srgbClr val="5B7CFA"/>
                </a:solidFill>
              </a:rPr>
              <a:t>OpenCV</a:t>
            </a:r>
            <a:endParaRPr lang="en-US" sz="2600" dirty="0"/>
          </a:p>
        </p:txBody>
      </p:sp>
      <p:sp>
        <p:nvSpPr>
          <p:cNvPr id="21" name="Text 19"/>
          <p:cNvSpPr/>
          <p:nvPr/>
        </p:nvSpPr>
        <p:spPr>
          <a:xfrm>
            <a:off x="9391355" y="4343400"/>
            <a:ext cx="1691640" cy="164592"/>
          </a:xfrm>
          <a:prstGeom prst="rect">
            <a:avLst/>
          </a:prstGeom>
          <a:noFill/>
          <a:ln/>
        </p:spPr>
        <p:txBody>
          <a:bodyPr wrap="square" lIns="0" tIns="0" rIns="0" bIns="0" rtlCol="0" anchor="ctr"/>
          <a:lstStyle/>
          <a:p>
            <a:pPr marL="0" indent="0">
              <a:buNone/>
            </a:pPr>
            <a:r>
              <a:rPr lang="en-US" sz="1600" dirty="0">
                <a:solidFill>
                  <a:srgbClr val="F5F7FB"/>
                </a:solidFill>
              </a:rPr>
              <a:t>used to load frames</a:t>
            </a:r>
            <a:endParaRPr lang="en-US" sz="1600" dirty="0"/>
          </a:p>
        </p:txBody>
      </p:sp>
      <p:sp>
        <p:nvSpPr>
          <p:cNvPr id="22" name="Text 20"/>
          <p:cNvSpPr/>
          <p:nvPr/>
        </p:nvSpPr>
        <p:spPr>
          <a:xfrm>
            <a:off x="8275320" y="5394960"/>
            <a:ext cx="2834640" cy="365760"/>
          </a:xfrm>
          <a:prstGeom prst="rect">
            <a:avLst/>
          </a:prstGeom>
          <a:noFill/>
          <a:ln/>
        </p:spPr>
        <p:txBody>
          <a:bodyPr wrap="square" lIns="0" tIns="0" rIns="0" bIns="0" rtlCol="0" anchor="ctr"/>
          <a:lstStyle/>
          <a:p>
            <a:pPr marL="0" indent="0">
              <a:buNone/>
            </a:pPr>
            <a:r>
              <a:rPr lang="en-US" sz="1500" dirty="0">
                <a:solidFill>
                  <a:srgbClr val="A8B2C8"/>
                </a:solidFill>
              </a:rPr>
              <a:t>Dataset-to-code alignment was a major step completed before model training.</a:t>
            </a:r>
            <a:endParaRPr lang="en-US" sz="1500" dirty="0"/>
          </a:p>
        </p:txBody>
      </p:sp>
      <p:sp>
        <p:nvSpPr>
          <p:cNvPr id="25" name="Slide Number Placeholder 0"/>
          <p:cNvSpPr>
            <a:spLocks noGrp="1"/>
          </p:cNvSpPr>
          <p:nvPr>
            <p:ph type="sldNum" sz="quarter" idx="4294967295"/>
          </p:nvPr>
        </p:nvSpPr>
        <p:spPr>
          <a:xfrm>
            <a:off x="11795760" y="6446520"/>
            <a:ext cx="22860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9AA7C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411480"/>
            <a:ext cx="8229600" cy="502920"/>
          </a:xfrm>
          <a:prstGeom prst="rect">
            <a:avLst/>
          </a:prstGeom>
          <a:noFill/>
          <a:ln/>
        </p:spPr>
        <p:txBody>
          <a:bodyPr wrap="square" lIns="0" tIns="0" rIns="0" bIns="0" rtlCol="0" anchor="ctr"/>
          <a:lstStyle/>
          <a:p>
            <a:pPr marL="0" indent="0">
              <a:buNone/>
            </a:pPr>
            <a:r>
              <a:rPr lang="en-US" sz="2800" b="1" dirty="0">
                <a:solidFill>
                  <a:srgbClr val="F5F7FB"/>
                </a:solidFill>
              </a:rPr>
              <a:t>3. End-to-end system pipeline implemented</a:t>
            </a:r>
            <a:endParaRPr lang="en-US" sz="2800" dirty="0"/>
          </a:p>
        </p:txBody>
      </p:sp>
      <p:sp>
        <p:nvSpPr>
          <p:cNvPr id="3" name="Text 1"/>
          <p:cNvSpPr/>
          <p:nvPr/>
        </p:nvSpPr>
        <p:spPr>
          <a:xfrm>
            <a:off x="502920" y="941832"/>
            <a:ext cx="7498080" cy="274320"/>
          </a:xfrm>
          <a:prstGeom prst="rect">
            <a:avLst/>
          </a:prstGeom>
          <a:noFill/>
          <a:ln/>
        </p:spPr>
        <p:txBody>
          <a:bodyPr wrap="square" lIns="0" tIns="0" rIns="0" bIns="0" rtlCol="0" anchor="ctr"/>
          <a:lstStyle/>
          <a:p>
            <a:pPr marL="0" indent="0">
              <a:buNone/>
            </a:pPr>
            <a:r>
              <a:rPr lang="en-US" sz="1300" dirty="0">
                <a:solidFill>
                  <a:srgbClr val="A8B2C8"/>
                </a:solidFill>
              </a:rPr>
              <a:t>The project currently follows a standard uploaded-video classification workflow.</a:t>
            </a:r>
            <a:endParaRPr lang="en-US" sz="1300" dirty="0"/>
          </a:p>
        </p:txBody>
      </p:sp>
      <p:sp>
        <p:nvSpPr>
          <p:cNvPr id="4" name="Text 2"/>
          <p:cNvSpPr/>
          <p:nvPr/>
        </p:nvSpPr>
        <p:spPr>
          <a:xfrm>
            <a:off x="2157984" y="2862072"/>
            <a:ext cx="228600" cy="128016"/>
          </a:xfrm>
          <a:prstGeom prst="rect">
            <a:avLst/>
          </a:prstGeom>
          <a:noFill/>
          <a:ln/>
        </p:spPr>
        <p:txBody>
          <a:bodyPr wrap="square" lIns="0" tIns="0" rIns="0" bIns="0" rtlCol="0" anchor="ctr"/>
          <a:lstStyle/>
          <a:p>
            <a:pPr marL="0" indent="0" algn="ctr">
              <a:buNone/>
            </a:pPr>
            <a:r>
              <a:rPr lang="en-US" sz="1600" b="1" dirty="0">
                <a:solidFill>
                  <a:srgbClr val="33C3F0"/>
                </a:solidFill>
              </a:rPr>
              <a:t>→</a:t>
            </a:r>
            <a:endParaRPr lang="en-US" sz="1600" dirty="0"/>
          </a:p>
        </p:txBody>
      </p:sp>
      <p:sp>
        <p:nvSpPr>
          <p:cNvPr id="5" name="Text 3"/>
          <p:cNvSpPr/>
          <p:nvPr/>
        </p:nvSpPr>
        <p:spPr>
          <a:xfrm>
            <a:off x="4507992" y="2862072"/>
            <a:ext cx="228600" cy="128016"/>
          </a:xfrm>
          <a:prstGeom prst="rect">
            <a:avLst/>
          </a:prstGeom>
          <a:noFill/>
          <a:ln/>
        </p:spPr>
        <p:txBody>
          <a:bodyPr wrap="square" lIns="0" tIns="0" rIns="0" bIns="0" rtlCol="0" anchor="ctr"/>
          <a:lstStyle/>
          <a:p>
            <a:pPr marL="0" indent="0" algn="ctr">
              <a:buNone/>
            </a:pPr>
            <a:r>
              <a:rPr lang="en-US" sz="1600" b="1" dirty="0">
                <a:solidFill>
                  <a:srgbClr val="33C3F0"/>
                </a:solidFill>
              </a:rPr>
              <a:t>→</a:t>
            </a:r>
            <a:endParaRPr lang="en-US" sz="1600" dirty="0"/>
          </a:p>
        </p:txBody>
      </p:sp>
      <p:sp>
        <p:nvSpPr>
          <p:cNvPr id="6" name="Text 4"/>
          <p:cNvSpPr/>
          <p:nvPr/>
        </p:nvSpPr>
        <p:spPr>
          <a:xfrm>
            <a:off x="6858000" y="2862072"/>
            <a:ext cx="228600" cy="128016"/>
          </a:xfrm>
          <a:prstGeom prst="rect">
            <a:avLst/>
          </a:prstGeom>
          <a:noFill/>
          <a:ln/>
        </p:spPr>
        <p:txBody>
          <a:bodyPr wrap="square" lIns="0" tIns="0" rIns="0" bIns="0" rtlCol="0" anchor="ctr"/>
          <a:lstStyle/>
          <a:p>
            <a:pPr marL="0" indent="0" algn="ctr">
              <a:buNone/>
            </a:pPr>
            <a:r>
              <a:rPr lang="en-US" sz="1600" b="1" dirty="0">
                <a:solidFill>
                  <a:srgbClr val="33C3F0"/>
                </a:solidFill>
              </a:rPr>
              <a:t>→</a:t>
            </a:r>
            <a:endParaRPr lang="en-US" sz="1600" dirty="0"/>
          </a:p>
        </p:txBody>
      </p:sp>
      <p:sp>
        <p:nvSpPr>
          <p:cNvPr id="7" name="Text 5"/>
          <p:cNvSpPr/>
          <p:nvPr/>
        </p:nvSpPr>
        <p:spPr>
          <a:xfrm>
            <a:off x="9208008" y="2862072"/>
            <a:ext cx="228600" cy="128016"/>
          </a:xfrm>
          <a:prstGeom prst="rect">
            <a:avLst/>
          </a:prstGeom>
          <a:noFill/>
          <a:ln/>
        </p:spPr>
        <p:txBody>
          <a:bodyPr wrap="square" lIns="0" tIns="0" rIns="0" bIns="0" rtlCol="0" anchor="ctr"/>
          <a:lstStyle/>
          <a:p>
            <a:pPr marL="0" indent="0" algn="ctr">
              <a:buNone/>
            </a:pPr>
            <a:r>
              <a:rPr lang="en-US" sz="1600" b="1" dirty="0">
                <a:solidFill>
                  <a:srgbClr val="33C3F0"/>
                </a:solidFill>
              </a:rPr>
              <a:t>→</a:t>
            </a:r>
            <a:endParaRPr lang="en-US" sz="1600" dirty="0"/>
          </a:p>
        </p:txBody>
      </p:sp>
      <p:sp>
        <p:nvSpPr>
          <p:cNvPr id="8" name="Shape 6"/>
          <p:cNvSpPr/>
          <p:nvPr/>
        </p:nvSpPr>
        <p:spPr>
          <a:xfrm>
            <a:off x="685800" y="2057400"/>
            <a:ext cx="1417320" cy="1828800"/>
          </a:xfrm>
          <a:prstGeom prst="roundRect">
            <a:avLst>
              <a:gd name="adj" fmla="val 4516"/>
            </a:avLst>
          </a:prstGeom>
          <a:solidFill>
            <a:srgbClr val="121A2E"/>
          </a:solidFill>
          <a:ln w="15240">
            <a:solidFill>
              <a:srgbClr val="24324F"/>
            </a:solidFill>
            <a:prstDash val="solid"/>
          </a:ln>
        </p:spPr>
      </p:sp>
      <p:sp>
        <p:nvSpPr>
          <p:cNvPr id="9" name="Text 7"/>
          <p:cNvSpPr/>
          <p:nvPr/>
        </p:nvSpPr>
        <p:spPr>
          <a:xfrm>
            <a:off x="758952" y="2304288"/>
            <a:ext cx="1271016" cy="347472"/>
          </a:xfrm>
          <a:prstGeom prst="rect">
            <a:avLst/>
          </a:prstGeom>
          <a:noFill/>
          <a:ln/>
        </p:spPr>
        <p:txBody>
          <a:bodyPr wrap="square" lIns="0" tIns="0" rIns="0" bIns="0" rtlCol="0" anchor="ctr"/>
          <a:lstStyle/>
          <a:p>
            <a:pPr marL="0" indent="0" algn="ctr">
              <a:buNone/>
            </a:pPr>
            <a:r>
              <a:rPr lang="en-US" sz="1600" b="1" dirty="0">
                <a:solidFill>
                  <a:srgbClr val="FFFFFF"/>
                </a:solidFill>
              </a:rPr>
              <a:t>Upload video</a:t>
            </a:r>
            <a:endParaRPr lang="en-US" sz="1600" dirty="0"/>
          </a:p>
        </p:txBody>
      </p:sp>
      <p:sp>
        <p:nvSpPr>
          <p:cNvPr id="10" name="Text 8"/>
          <p:cNvSpPr/>
          <p:nvPr/>
        </p:nvSpPr>
        <p:spPr>
          <a:xfrm>
            <a:off x="758952" y="2834640"/>
            <a:ext cx="1271016" cy="640080"/>
          </a:xfrm>
          <a:prstGeom prst="rect">
            <a:avLst/>
          </a:prstGeom>
          <a:noFill/>
          <a:ln/>
        </p:spPr>
        <p:txBody>
          <a:bodyPr wrap="square" lIns="0" tIns="0" rIns="0" bIns="0" rtlCol="0" anchor="ctr"/>
          <a:lstStyle/>
          <a:p>
            <a:pPr marL="0" indent="0" algn="ctr">
              <a:buNone/>
            </a:pPr>
            <a:r>
              <a:rPr lang="en-US" sz="1230" dirty="0">
                <a:solidFill>
                  <a:srgbClr val="A8B2C8"/>
                </a:solidFill>
              </a:rPr>
              <a:t>Flask form accepts video files</a:t>
            </a:r>
            <a:endParaRPr lang="en-US" sz="1230" dirty="0"/>
          </a:p>
        </p:txBody>
      </p:sp>
      <p:sp>
        <p:nvSpPr>
          <p:cNvPr id="11" name="Shape 9"/>
          <p:cNvSpPr/>
          <p:nvPr/>
        </p:nvSpPr>
        <p:spPr>
          <a:xfrm>
            <a:off x="3035808" y="2057400"/>
            <a:ext cx="1417320" cy="1828800"/>
          </a:xfrm>
          <a:prstGeom prst="roundRect">
            <a:avLst>
              <a:gd name="adj" fmla="val 4516"/>
            </a:avLst>
          </a:prstGeom>
          <a:solidFill>
            <a:srgbClr val="121A2E"/>
          </a:solidFill>
          <a:ln w="15240">
            <a:solidFill>
              <a:srgbClr val="24324F"/>
            </a:solidFill>
            <a:prstDash val="solid"/>
          </a:ln>
        </p:spPr>
      </p:sp>
      <p:sp>
        <p:nvSpPr>
          <p:cNvPr id="12" name="Text 10"/>
          <p:cNvSpPr/>
          <p:nvPr/>
        </p:nvSpPr>
        <p:spPr>
          <a:xfrm>
            <a:off x="3108960" y="2304288"/>
            <a:ext cx="1271016" cy="347472"/>
          </a:xfrm>
          <a:prstGeom prst="rect">
            <a:avLst/>
          </a:prstGeom>
          <a:noFill/>
          <a:ln/>
        </p:spPr>
        <p:txBody>
          <a:bodyPr wrap="square" lIns="0" tIns="0" rIns="0" bIns="0" rtlCol="0" anchor="ctr"/>
          <a:lstStyle/>
          <a:p>
            <a:pPr marL="0" indent="0" algn="ctr">
              <a:buNone/>
            </a:pPr>
            <a:r>
              <a:rPr lang="en-US" sz="1600" b="1" dirty="0">
                <a:solidFill>
                  <a:srgbClr val="FFFFFF"/>
                </a:solidFill>
              </a:rPr>
              <a:t>Frame extraction</a:t>
            </a:r>
            <a:endParaRPr lang="en-US" sz="1600" dirty="0"/>
          </a:p>
        </p:txBody>
      </p:sp>
      <p:sp>
        <p:nvSpPr>
          <p:cNvPr id="13" name="Text 11"/>
          <p:cNvSpPr/>
          <p:nvPr/>
        </p:nvSpPr>
        <p:spPr>
          <a:xfrm>
            <a:off x="3108960" y="2834640"/>
            <a:ext cx="1271016" cy="640080"/>
          </a:xfrm>
          <a:prstGeom prst="rect">
            <a:avLst/>
          </a:prstGeom>
          <a:noFill/>
          <a:ln/>
        </p:spPr>
        <p:txBody>
          <a:bodyPr wrap="square" lIns="0" tIns="0" rIns="0" bIns="0" rtlCol="0" anchor="ctr"/>
          <a:lstStyle/>
          <a:p>
            <a:pPr marL="0" indent="0" algn="ctr">
              <a:buNone/>
            </a:pPr>
            <a:r>
              <a:rPr lang="en-US" sz="1230" dirty="0">
                <a:solidFill>
                  <a:srgbClr val="A8B2C8"/>
                </a:solidFill>
              </a:rPr>
              <a:t>OpenCV reads selected frames</a:t>
            </a:r>
            <a:endParaRPr lang="en-US" sz="1230" dirty="0"/>
          </a:p>
        </p:txBody>
      </p:sp>
      <p:sp>
        <p:nvSpPr>
          <p:cNvPr id="14" name="Shape 12"/>
          <p:cNvSpPr/>
          <p:nvPr/>
        </p:nvSpPr>
        <p:spPr>
          <a:xfrm>
            <a:off x="5385816" y="2057400"/>
            <a:ext cx="1417320" cy="1828800"/>
          </a:xfrm>
          <a:prstGeom prst="roundRect">
            <a:avLst>
              <a:gd name="adj" fmla="val 4516"/>
            </a:avLst>
          </a:prstGeom>
          <a:solidFill>
            <a:srgbClr val="121A2E"/>
          </a:solidFill>
          <a:ln w="15240">
            <a:solidFill>
              <a:srgbClr val="24324F"/>
            </a:solidFill>
            <a:prstDash val="solid"/>
          </a:ln>
        </p:spPr>
      </p:sp>
      <p:sp>
        <p:nvSpPr>
          <p:cNvPr id="15" name="Text 13"/>
          <p:cNvSpPr/>
          <p:nvPr/>
        </p:nvSpPr>
        <p:spPr>
          <a:xfrm>
            <a:off x="5458968" y="2304288"/>
            <a:ext cx="1271016" cy="347472"/>
          </a:xfrm>
          <a:prstGeom prst="rect">
            <a:avLst/>
          </a:prstGeom>
          <a:noFill/>
          <a:ln/>
        </p:spPr>
        <p:txBody>
          <a:bodyPr wrap="square" lIns="0" tIns="0" rIns="0" bIns="0" rtlCol="0" anchor="ctr"/>
          <a:lstStyle/>
          <a:p>
            <a:pPr marL="0" indent="0" algn="ctr">
              <a:buNone/>
            </a:pPr>
            <a:r>
              <a:rPr lang="en-US" sz="1600" b="1" dirty="0">
                <a:solidFill>
                  <a:srgbClr val="FFFFFF"/>
                </a:solidFill>
              </a:rPr>
              <a:t>Preprocessing</a:t>
            </a:r>
            <a:endParaRPr lang="en-US" sz="1600" dirty="0"/>
          </a:p>
        </p:txBody>
      </p:sp>
      <p:sp>
        <p:nvSpPr>
          <p:cNvPr id="16" name="Text 14"/>
          <p:cNvSpPr/>
          <p:nvPr/>
        </p:nvSpPr>
        <p:spPr>
          <a:xfrm>
            <a:off x="5458968" y="2834640"/>
            <a:ext cx="1271016" cy="640080"/>
          </a:xfrm>
          <a:prstGeom prst="rect">
            <a:avLst/>
          </a:prstGeom>
          <a:noFill/>
          <a:ln/>
        </p:spPr>
        <p:txBody>
          <a:bodyPr wrap="square" lIns="0" tIns="0" rIns="0" bIns="0" rtlCol="0" anchor="ctr"/>
          <a:lstStyle/>
          <a:p>
            <a:pPr marL="0" indent="0" algn="ctr">
              <a:buNone/>
            </a:pPr>
            <a:r>
              <a:rPr lang="en-US" sz="1230" dirty="0">
                <a:solidFill>
                  <a:srgbClr val="A8B2C8"/>
                </a:solidFill>
              </a:rPr>
              <a:t>Resize, normalize, fixed sequence</a:t>
            </a:r>
            <a:endParaRPr lang="en-US" sz="1230" dirty="0"/>
          </a:p>
        </p:txBody>
      </p:sp>
      <p:sp>
        <p:nvSpPr>
          <p:cNvPr id="17" name="Shape 15"/>
          <p:cNvSpPr/>
          <p:nvPr/>
        </p:nvSpPr>
        <p:spPr>
          <a:xfrm>
            <a:off x="7735824" y="2057400"/>
            <a:ext cx="1417320" cy="1828800"/>
          </a:xfrm>
          <a:prstGeom prst="roundRect">
            <a:avLst>
              <a:gd name="adj" fmla="val 4516"/>
            </a:avLst>
          </a:prstGeom>
          <a:solidFill>
            <a:srgbClr val="1B2C52"/>
          </a:solidFill>
          <a:ln w="15240">
            <a:solidFill>
              <a:srgbClr val="5B7CFA"/>
            </a:solidFill>
            <a:prstDash val="solid"/>
          </a:ln>
        </p:spPr>
      </p:sp>
      <p:sp>
        <p:nvSpPr>
          <p:cNvPr id="18" name="Text 16"/>
          <p:cNvSpPr/>
          <p:nvPr/>
        </p:nvSpPr>
        <p:spPr>
          <a:xfrm>
            <a:off x="7808976" y="2304288"/>
            <a:ext cx="1271016" cy="347472"/>
          </a:xfrm>
          <a:prstGeom prst="rect">
            <a:avLst/>
          </a:prstGeom>
          <a:noFill/>
          <a:ln/>
        </p:spPr>
        <p:txBody>
          <a:bodyPr wrap="square" lIns="0" tIns="0" rIns="0" bIns="0" rtlCol="0" anchor="ctr"/>
          <a:lstStyle/>
          <a:p>
            <a:pPr marL="0" indent="0" algn="ctr">
              <a:buNone/>
            </a:pPr>
            <a:r>
              <a:rPr lang="en-US" sz="1600" b="1" dirty="0">
                <a:solidFill>
                  <a:srgbClr val="FFFFFF"/>
                </a:solidFill>
              </a:rPr>
              <a:t>Model inference</a:t>
            </a:r>
            <a:endParaRPr lang="en-US" sz="1600" dirty="0"/>
          </a:p>
        </p:txBody>
      </p:sp>
      <p:sp>
        <p:nvSpPr>
          <p:cNvPr id="19" name="Text 17"/>
          <p:cNvSpPr/>
          <p:nvPr/>
        </p:nvSpPr>
        <p:spPr>
          <a:xfrm>
            <a:off x="7808976" y="2834640"/>
            <a:ext cx="1271016" cy="640080"/>
          </a:xfrm>
          <a:prstGeom prst="rect">
            <a:avLst/>
          </a:prstGeom>
          <a:noFill/>
          <a:ln/>
        </p:spPr>
        <p:txBody>
          <a:bodyPr wrap="square" lIns="0" tIns="0" rIns="0" bIns="0" rtlCol="0" anchor="ctr"/>
          <a:lstStyle/>
          <a:p>
            <a:pPr marL="0" indent="0" algn="ctr">
              <a:buNone/>
            </a:pPr>
            <a:r>
              <a:rPr lang="en-US" sz="1230" dirty="0">
                <a:solidFill>
                  <a:srgbClr val="A8B2C8"/>
                </a:solidFill>
              </a:rPr>
              <a:t>CNN + LSTM or silhouette model</a:t>
            </a:r>
            <a:endParaRPr lang="en-US" sz="1230" dirty="0"/>
          </a:p>
        </p:txBody>
      </p:sp>
      <p:sp>
        <p:nvSpPr>
          <p:cNvPr id="20" name="Shape 18"/>
          <p:cNvSpPr/>
          <p:nvPr/>
        </p:nvSpPr>
        <p:spPr>
          <a:xfrm>
            <a:off x="10085832" y="2057400"/>
            <a:ext cx="1417320" cy="1828800"/>
          </a:xfrm>
          <a:prstGeom prst="roundRect">
            <a:avLst>
              <a:gd name="adj" fmla="val 4516"/>
            </a:avLst>
          </a:prstGeom>
          <a:solidFill>
            <a:srgbClr val="121A2E"/>
          </a:solidFill>
          <a:ln w="15240">
            <a:solidFill>
              <a:srgbClr val="24324F"/>
            </a:solidFill>
            <a:prstDash val="solid"/>
          </a:ln>
        </p:spPr>
      </p:sp>
      <p:sp>
        <p:nvSpPr>
          <p:cNvPr id="21" name="Text 19"/>
          <p:cNvSpPr/>
          <p:nvPr/>
        </p:nvSpPr>
        <p:spPr>
          <a:xfrm>
            <a:off x="10158984" y="2304288"/>
            <a:ext cx="1271016" cy="347472"/>
          </a:xfrm>
          <a:prstGeom prst="rect">
            <a:avLst/>
          </a:prstGeom>
          <a:noFill/>
          <a:ln/>
        </p:spPr>
        <p:txBody>
          <a:bodyPr wrap="square" lIns="0" tIns="0" rIns="0" bIns="0" rtlCol="0" anchor="ctr"/>
          <a:lstStyle/>
          <a:p>
            <a:pPr marL="0" indent="0" algn="ctr">
              <a:buNone/>
            </a:pPr>
            <a:r>
              <a:rPr lang="en-US" sz="1600" b="1" dirty="0">
                <a:solidFill>
                  <a:srgbClr val="FFFFFF"/>
                </a:solidFill>
              </a:rPr>
              <a:t>Prediction output</a:t>
            </a:r>
            <a:endParaRPr lang="en-US" sz="1600" dirty="0"/>
          </a:p>
        </p:txBody>
      </p:sp>
      <p:sp>
        <p:nvSpPr>
          <p:cNvPr id="22" name="Text 20"/>
          <p:cNvSpPr/>
          <p:nvPr/>
        </p:nvSpPr>
        <p:spPr>
          <a:xfrm>
            <a:off x="10158984" y="2834640"/>
            <a:ext cx="1271016" cy="640080"/>
          </a:xfrm>
          <a:prstGeom prst="rect">
            <a:avLst/>
          </a:prstGeom>
          <a:noFill/>
          <a:ln/>
        </p:spPr>
        <p:txBody>
          <a:bodyPr wrap="square" lIns="0" tIns="0" rIns="0" bIns="0" rtlCol="0" anchor="ctr"/>
          <a:lstStyle/>
          <a:p>
            <a:pPr marL="0" indent="0" algn="ctr">
              <a:buNone/>
            </a:pPr>
            <a:r>
              <a:rPr lang="en-US" sz="1230" dirty="0">
                <a:solidFill>
                  <a:srgbClr val="A8B2C8"/>
                </a:solidFill>
              </a:rPr>
              <a:t>Action label + confidence</a:t>
            </a:r>
            <a:endParaRPr lang="en-US" sz="1230" dirty="0"/>
          </a:p>
        </p:txBody>
      </p:sp>
      <p:sp>
        <p:nvSpPr>
          <p:cNvPr id="23" name="Text 21"/>
          <p:cNvSpPr/>
          <p:nvPr/>
        </p:nvSpPr>
        <p:spPr>
          <a:xfrm>
            <a:off x="685800" y="4553059"/>
            <a:ext cx="2286000" cy="182880"/>
          </a:xfrm>
          <a:prstGeom prst="rect">
            <a:avLst/>
          </a:prstGeom>
          <a:noFill/>
          <a:ln/>
        </p:spPr>
        <p:txBody>
          <a:bodyPr wrap="square" lIns="0" tIns="0" rIns="0" bIns="0" rtlCol="0" anchor="ctr"/>
          <a:lstStyle/>
          <a:p>
            <a:pPr marL="0" indent="0">
              <a:buNone/>
            </a:pPr>
            <a:r>
              <a:rPr lang="en-US" sz="2000" b="1" dirty="0">
                <a:solidFill>
                  <a:srgbClr val="F5F7FB"/>
                </a:solidFill>
              </a:rPr>
              <a:t>Two variants explored</a:t>
            </a:r>
            <a:endParaRPr lang="en-US" sz="2000" dirty="0"/>
          </a:p>
        </p:txBody>
      </p:sp>
      <p:sp>
        <p:nvSpPr>
          <p:cNvPr id="24" name="Shape 22"/>
          <p:cNvSpPr/>
          <p:nvPr/>
        </p:nvSpPr>
        <p:spPr>
          <a:xfrm>
            <a:off x="626364" y="5074267"/>
            <a:ext cx="3520440" cy="1025434"/>
          </a:xfrm>
          <a:prstGeom prst="roundRect">
            <a:avLst>
              <a:gd name="adj" fmla="val 6522"/>
            </a:avLst>
          </a:prstGeom>
          <a:solidFill>
            <a:srgbClr val="162544"/>
          </a:solidFill>
          <a:ln w="15240">
            <a:solidFill>
              <a:srgbClr val="5B7CFA"/>
            </a:solidFill>
            <a:prstDash val="solid"/>
          </a:ln>
        </p:spPr>
      </p:sp>
      <p:sp>
        <p:nvSpPr>
          <p:cNvPr id="25" name="Text 23"/>
          <p:cNvSpPr/>
          <p:nvPr/>
        </p:nvSpPr>
        <p:spPr>
          <a:xfrm>
            <a:off x="896112" y="5138928"/>
            <a:ext cx="1463040" cy="137160"/>
          </a:xfrm>
          <a:prstGeom prst="rect">
            <a:avLst/>
          </a:prstGeom>
          <a:noFill/>
          <a:ln/>
        </p:spPr>
        <p:txBody>
          <a:bodyPr wrap="square" lIns="0" tIns="0" rIns="0" bIns="0" rtlCol="0" anchor="ctr"/>
          <a:lstStyle/>
          <a:p>
            <a:pPr marL="0" indent="0">
              <a:buNone/>
            </a:pPr>
            <a:r>
              <a:rPr lang="en-US" sz="1800" b="1" dirty="0">
                <a:solidFill>
                  <a:srgbClr val="FFFFFF"/>
                </a:solidFill>
              </a:rPr>
              <a:t>RGB pipeline</a:t>
            </a:r>
            <a:endParaRPr lang="en-US" sz="1800" dirty="0"/>
          </a:p>
        </p:txBody>
      </p:sp>
      <p:sp>
        <p:nvSpPr>
          <p:cNvPr id="26" name="Text 24"/>
          <p:cNvSpPr/>
          <p:nvPr/>
        </p:nvSpPr>
        <p:spPr>
          <a:xfrm>
            <a:off x="896112" y="5481828"/>
            <a:ext cx="2926080" cy="228600"/>
          </a:xfrm>
          <a:prstGeom prst="rect">
            <a:avLst/>
          </a:prstGeom>
          <a:noFill/>
          <a:ln/>
        </p:spPr>
        <p:txBody>
          <a:bodyPr wrap="square" lIns="0" tIns="0" rIns="0" bIns="0" rtlCol="0" anchor="ctr"/>
          <a:lstStyle/>
          <a:p>
            <a:pPr marL="0" indent="0">
              <a:buNone/>
            </a:pPr>
            <a:r>
              <a:rPr lang="en-US" sz="1230" dirty="0">
                <a:solidFill>
                  <a:srgbClr val="A8B2C8"/>
                </a:solidFill>
              </a:rPr>
              <a:t>Direct frame-based action recognition using the uploaded video.</a:t>
            </a:r>
            <a:endParaRPr lang="en-US" sz="1230" dirty="0"/>
          </a:p>
        </p:txBody>
      </p:sp>
      <p:sp>
        <p:nvSpPr>
          <p:cNvPr id="27" name="Shape 25"/>
          <p:cNvSpPr/>
          <p:nvPr/>
        </p:nvSpPr>
        <p:spPr>
          <a:xfrm>
            <a:off x="4590288" y="4828032"/>
            <a:ext cx="3429000" cy="1274188"/>
          </a:xfrm>
          <a:prstGeom prst="roundRect">
            <a:avLst>
              <a:gd name="adj" fmla="val 6522"/>
            </a:avLst>
          </a:prstGeom>
          <a:solidFill>
            <a:srgbClr val="123125"/>
          </a:solidFill>
          <a:ln w="15240">
            <a:solidFill>
              <a:srgbClr val="22C55E"/>
            </a:solidFill>
            <a:prstDash val="solid"/>
          </a:ln>
        </p:spPr>
      </p:sp>
      <p:sp>
        <p:nvSpPr>
          <p:cNvPr id="28" name="Text 26"/>
          <p:cNvSpPr/>
          <p:nvPr/>
        </p:nvSpPr>
        <p:spPr>
          <a:xfrm>
            <a:off x="4754880" y="5138928"/>
            <a:ext cx="1463040" cy="137160"/>
          </a:xfrm>
          <a:prstGeom prst="rect">
            <a:avLst/>
          </a:prstGeom>
          <a:noFill/>
          <a:ln/>
        </p:spPr>
        <p:txBody>
          <a:bodyPr wrap="square" lIns="0" tIns="0" rIns="0" bIns="0" rtlCol="0" anchor="ctr"/>
          <a:lstStyle/>
          <a:p>
            <a:pPr marL="0" indent="0">
              <a:buNone/>
            </a:pPr>
            <a:r>
              <a:rPr lang="en-US" sz="1800" b="1" dirty="0">
                <a:solidFill>
                  <a:srgbClr val="FFFFFF"/>
                </a:solidFill>
              </a:rPr>
              <a:t>Silhouette pipeline</a:t>
            </a:r>
            <a:endParaRPr lang="en-US" sz="1800" dirty="0"/>
          </a:p>
        </p:txBody>
      </p:sp>
      <p:sp>
        <p:nvSpPr>
          <p:cNvPr id="29" name="Text 27"/>
          <p:cNvSpPr/>
          <p:nvPr/>
        </p:nvSpPr>
        <p:spPr>
          <a:xfrm>
            <a:off x="4754880" y="5662749"/>
            <a:ext cx="2926080" cy="228600"/>
          </a:xfrm>
          <a:prstGeom prst="rect">
            <a:avLst/>
          </a:prstGeom>
          <a:noFill/>
          <a:ln/>
        </p:spPr>
        <p:txBody>
          <a:bodyPr wrap="square" lIns="0" tIns="0" rIns="0" bIns="0" rtlCol="0" anchor="ctr"/>
          <a:lstStyle/>
          <a:p>
            <a:pPr marL="0" indent="0">
              <a:buNone/>
            </a:pPr>
            <a:r>
              <a:rPr lang="en-US" sz="1230" dirty="0">
                <a:solidFill>
                  <a:srgbClr val="A8B2C8"/>
                </a:solidFill>
              </a:rPr>
              <a:t>Background subtraction creates motion-focused silhouette frames before classification.</a:t>
            </a:r>
            <a:endParaRPr lang="en-US" sz="1230" dirty="0"/>
          </a:p>
        </p:txBody>
      </p:sp>
      <p:sp>
        <p:nvSpPr>
          <p:cNvPr id="30" name="Shape 28"/>
          <p:cNvSpPr/>
          <p:nvPr/>
        </p:nvSpPr>
        <p:spPr>
          <a:xfrm>
            <a:off x="8449056" y="4983480"/>
            <a:ext cx="3429000" cy="841248"/>
          </a:xfrm>
          <a:prstGeom prst="roundRect">
            <a:avLst>
              <a:gd name="adj" fmla="val 6522"/>
            </a:avLst>
          </a:prstGeom>
          <a:solidFill>
            <a:srgbClr val="331F12"/>
          </a:solidFill>
          <a:ln w="15240">
            <a:solidFill>
              <a:srgbClr val="F59E0B"/>
            </a:solidFill>
            <a:prstDash val="solid"/>
          </a:ln>
        </p:spPr>
      </p:sp>
      <p:sp>
        <p:nvSpPr>
          <p:cNvPr id="31" name="Text 29"/>
          <p:cNvSpPr/>
          <p:nvPr/>
        </p:nvSpPr>
        <p:spPr>
          <a:xfrm>
            <a:off x="8613648" y="5138928"/>
            <a:ext cx="1463040" cy="137160"/>
          </a:xfrm>
          <a:prstGeom prst="rect">
            <a:avLst/>
          </a:prstGeom>
          <a:noFill/>
          <a:ln/>
        </p:spPr>
        <p:txBody>
          <a:bodyPr wrap="square" lIns="0" tIns="0" rIns="0" bIns="0" rtlCol="0" anchor="ctr"/>
          <a:lstStyle/>
          <a:p>
            <a:pPr marL="0" indent="0">
              <a:buNone/>
            </a:pPr>
            <a:r>
              <a:rPr lang="en-US" sz="1800" b="1" dirty="0">
                <a:solidFill>
                  <a:srgbClr val="FFFFFF"/>
                </a:solidFill>
              </a:rPr>
              <a:t>UI integration</a:t>
            </a:r>
            <a:endParaRPr lang="en-US" sz="1800" dirty="0"/>
          </a:p>
        </p:txBody>
      </p:sp>
      <p:sp>
        <p:nvSpPr>
          <p:cNvPr id="32" name="Text 30"/>
          <p:cNvSpPr/>
          <p:nvPr/>
        </p:nvSpPr>
        <p:spPr>
          <a:xfrm>
            <a:off x="8613648" y="5404104"/>
            <a:ext cx="2926080" cy="228600"/>
          </a:xfrm>
          <a:prstGeom prst="rect">
            <a:avLst/>
          </a:prstGeom>
          <a:noFill/>
          <a:ln/>
        </p:spPr>
        <p:txBody>
          <a:bodyPr wrap="square" lIns="0" tIns="0" rIns="0" bIns="0" rtlCol="0" anchor="ctr"/>
          <a:lstStyle/>
          <a:p>
            <a:pPr marL="0" indent="0">
              <a:buNone/>
            </a:pPr>
            <a:r>
              <a:rPr lang="en-US" sz="1230" dirty="0">
                <a:solidFill>
                  <a:srgbClr val="A8B2C8"/>
                </a:solidFill>
              </a:rPr>
              <a:t>Prediction result is returned inside a Flask web page.</a:t>
            </a:r>
            <a:endParaRPr lang="en-US" sz="1230" dirty="0"/>
          </a:p>
        </p:txBody>
      </p:sp>
      <p:sp>
        <p:nvSpPr>
          <p:cNvPr id="33" name="Slide Number Placeholder 0"/>
          <p:cNvSpPr>
            <a:spLocks noGrp="1"/>
          </p:cNvSpPr>
          <p:nvPr>
            <p:ph type="sldNum" sz="quarter" idx="4294967295"/>
          </p:nvPr>
        </p:nvSpPr>
        <p:spPr>
          <a:xfrm>
            <a:off x="11795760" y="6446520"/>
            <a:ext cx="22860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9AA7C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411480"/>
            <a:ext cx="8229600" cy="502920"/>
          </a:xfrm>
          <a:prstGeom prst="rect">
            <a:avLst/>
          </a:prstGeom>
          <a:noFill/>
          <a:ln/>
        </p:spPr>
        <p:txBody>
          <a:bodyPr wrap="square" lIns="0" tIns="0" rIns="0" bIns="0" rtlCol="0" anchor="ctr"/>
          <a:lstStyle/>
          <a:p>
            <a:pPr marL="0" indent="0">
              <a:buNone/>
            </a:pPr>
            <a:r>
              <a:rPr lang="en-US" sz="2800" b="1" dirty="0">
                <a:solidFill>
                  <a:srgbClr val="F5F7FB"/>
                </a:solidFill>
              </a:rPr>
              <a:t>4. Implementation progress: training code + upload interface</a:t>
            </a:r>
            <a:endParaRPr lang="en-US" sz="2800" dirty="0"/>
          </a:p>
        </p:txBody>
      </p:sp>
      <p:sp>
        <p:nvSpPr>
          <p:cNvPr id="3" name="Text 1"/>
          <p:cNvSpPr/>
          <p:nvPr/>
        </p:nvSpPr>
        <p:spPr>
          <a:xfrm>
            <a:off x="502920" y="941832"/>
            <a:ext cx="7498080" cy="274320"/>
          </a:xfrm>
          <a:prstGeom prst="rect">
            <a:avLst/>
          </a:prstGeom>
          <a:noFill/>
          <a:ln/>
        </p:spPr>
        <p:txBody>
          <a:bodyPr wrap="square" lIns="0" tIns="0" rIns="0" bIns="0" rtlCol="0" anchor="ctr"/>
          <a:lstStyle/>
          <a:p>
            <a:pPr marL="0" indent="0">
              <a:buNone/>
            </a:pPr>
            <a:r>
              <a:rPr lang="en-US" sz="1300" dirty="0">
                <a:solidFill>
                  <a:srgbClr val="A8B2C8"/>
                </a:solidFill>
              </a:rPr>
              <a:t>Core modules were created for preprocessing, training, prediction, and the Flask front end.</a:t>
            </a:r>
            <a:endParaRPr lang="en-US" sz="1300" dirty="0"/>
          </a:p>
        </p:txBody>
      </p:sp>
      <p:sp>
        <p:nvSpPr>
          <p:cNvPr id="4" name="Shape 2"/>
          <p:cNvSpPr/>
          <p:nvPr/>
        </p:nvSpPr>
        <p:spPr>
          <a:xfrm>
            <a:off x="594360" y="1463040"/>
            <a:ext cx="3657600" cy="4572000"/>
          </a:xfrm>
          <a:prstGeom prst="roundRect">
            <a:avLst>
              <a:gd name="adj" fmla="val 1750"/>
            </a:avLst>
          </a:prstGeom>
          <a:solidFill>
            <a:srgbClr val="121A2E"/>
          </a:solidFill>
          <a:ln w="12700">
            <a:solidFill>
              <a:srgbClr val="24324F"/>
            </a:solidFill>
            <a:prstDash val="solid"/>
          </a:ln>
        </p:spPr>
      </p:sp>
      <p:sp>
        <p:nvSpPr>
          <p:cNvPr id="5" name="Text 3"/>
          <p:cNvSpPr/>
          <p:nvPr/>
        </p:nvSpPr>
        <p:spPr>
          <a:xfrm>
            <a:off x="868680" y="1783080"/>
            <a:ext cx="2194560" cy="182880"/>
          </a:xfrm>
          <a:prstGeom prst="rect">
            <a:avLst/>
          </a:prstGeom>
          <a:noFill/>
          <a:ln/>
        </p:spPr>
        <p:txBody>
          <a:bodyPr wrap="square" lIns="0" tIns="0" rIns="0" bIns="0" rtlCol="0" anchor="ctr"/>
          <a:lstStyle/>
          <a:p>
            <a:pPr marL="0" indent="0">
              <a:buNone/>
            </a:pPr>
            <a:r>
              <a:rPr lang="en-US" sz="2200" b="1" dirty="0">
                <a:solidFill>
                  <a:srgbClr val="F5F7FB"/>
                </a:solidFill>
              </a:rPr>
              <a:t>Modules completed</a:t>
            </a:r>
            <a:endParaRPr lang="en-US" sz="2200" dirty="0"/>
          </a:p>
        </p:txBody>
      </p:sp>
      <p:sp>
        <p:nvSpPr>
          <p:cNvPr id="6" name="Shape 4"/>
          <p:cNvSpPr/>
          <p:nvPr/>
        </p:nvSpPr>
        <p:spPr>
          <a:xfrm>
            <a:off x="868680" y="2176272"/>
            <a:ext cx="3108960" cy="493776"/>
          </a:xfrm>
          <a:prstGeom prst="roundRect">
            <a:avLst>
              <a:gd name="adj" fmla="val 7407"/>
            </a:avLst>
          </a:prstGeom>
          <a:solidFill>
            <a:srgbClr val="17233F"/>
          </a:solidFill>
          <a:ln w="12700">
            <a:solidFill>
              <a:srgbClr val="31405F"/>
            </a:solidFill>
            <a:prstDash val="solid"/>
          </a:ln>
        </p:spPr>
      </p:sp>
      <p:sp>
        <p:nvSpPr>
          <p:cNvPr id="7" name="Text 5"/>
          <p:cNvSpPr/>
          <p:nvPr/>
        </p:nvSpPr>
        <p:spPr>
          <a:xfrm>
            <a:off x="987552" y="2322576"/>
            <a:ext cx="749808" cy="128016"/>
          </a:xfrm>
          <a:prstGeom prst="rect">
            <a:avLst/>
          </a:prstGeom>
          <a:noFill/>
          <a:ln/>
        </p:spPr>
        <p:txBody>
          <a:bodyPr wrap="square" lIns="0" tIns="0" rIns="0" bIns="0" rtlCol="0" anchor="ctr"/>
          <a:lstStyle/>
          <a:p>
            <a:pPr marL="0" indent="0">
              <a:buNone/>
            </a:pPr>
            <a:r>
              <a:rPr lang="en-US" sz="1500" b="1" dirty="0">
                <a:solidFill>
                  <a:srgbClr val="33C3F0"/>
                </a:solidFill>
              </a:rPr>
              <a:t>utils.py</a:t>
            </a:r>
            <a:endParaRPr lang="en-US" sz="1500" dirty="0"/>
          </a:p>
        </p:txBody>
      </p:sp>
      <p:sp>
        <p:nvSpPr>
          <p:cNvPr id="8" name="Text 6"/>
          <p:cNvSpPr/>
          <p:nvPr/>
        </p:nvSpPr>
        <p:spPr>
          <a:xfrm>
            <a:off x="1828800" y="2340864"/>
            <a:ext cx="1920240" cy="109728"/>
          </a:xfrm>
          <a:prstGeom prst="rect">
            <a:avLst/>
          </a:prstGeom>
          <a:noFill/>
          <a:ln/>
        </p:spPr>
        <p:txBody>
          <a:bodyPr wrap="square" lIns="0" tIns="0" rIns="0" bIns="0" rtlCol="0" anchor="ctr"/>
          <a:lstStyle/>
          <a:p>
            <a:pPr marL="0" indent="0">
              <a:buNone/>
            </a:pPr>
            <a:r>
              <a:rPr lang="en-US" sz="1250" dirty="0">
                <a:solidFill>
                  <a:srgbClr val="A8B2C8"/>
                </a:solidFill>
              </a:rPr>
              <a:t>frame extraction / preprocessing</a:t>
            </a:r>
            <a:endParaRPr lang="en-US" sz="1250" dirty="0"/>
          </a:p>
        </p:txBody>
      </p:sp>
      <p:sp>
        <p:nvSpPr>
          <p:cNvPr id="9" name="Shape 7"/>
          <p:cNvSpPr/>
          <p:nvPr/>
        </p:nvSpPr>
        <p:spPr>
          <a:xfrm>
            <a:off x="868680" y="2889504"/>
            <a:ext cx="3108960" cy="493776"/>
          </a:xfrm>
          <a:prstGeom prst="roundRect">
            <a:avLst>
              <a:gd name="adj" fmla="val 7407"/>
            </a:avLst>
          </a:prstGeom>
          <a:solidFill>
            <a:srgbClr val="17233F"/>
          </a:solidFill>
          <a:ln w="12700">
            <a:solidFill>
              <a:srgbClr val="31405F"/>
            </a:solidFill>
            <a:prstDash val="solid"/>
          </a:ln>
        </p:spPr>
      </p:sp>
      <p:sp>
        <p:nvSpPr>
          <p:cNvPr id="10" name="Text 8"/>
          <p:cNvSpPr/>
          <p:nvPr/>
        </p:nvSpPr>
        <p:spPr>
          <a:xfrm>
            <a:off x="987552" y="3035808"/>
            <a:ext cx="749808" cy="128016"/>
          </a:xfrm>
          <a:prstGeom prst="rect">
            <a:avLst/>
          </a:prstGeom>
          <a:noFill/>
          <a:ln/>
        </p:spPr>
        <p:txBody>
          <a:bodyPr wrap="square" lIns="0" tIns="0" rIns="0" bIns="0" rtlCol="0" anchor="ctr"/>
          <a:lstStyle/>
          <a:p>
            <a:pPr marL="0" indent="0">
              <a:buNone/>
            </a:pPr>
            <a:r>
              <a:rPr lang="en-US" sz="1500" b="1" dirty="0">
                <a:solidFill>
                  <a:srgbClr val="33C3F0"/>
                </a:solidFill>
              </a:rPr>
              <a:t>train.py</a:t>
            </a:r>
            <a:endParaRPr lang="en-US" sz="1500" dirty="0"/>
          </a:p>
        </p:txBody>
      </p:sp>
      <p:sp>
        <p:nvSpPr>
          <p:cNvPr id="11" name="Text 9"/>
          <p:cNvSpPr/>
          <p:nvPr/>
        </p:nvSpPr>
        <p:spPr>
          <a:xfrm>
            <a:off x="1828800" y="3054096"/>
            <a:ext cx="1920240" cy="109728"/>
          </a:xfrm>
          <a:prstGeom prst="rect">
            <a:avLst/>
          </a:prstGeom>
          <a:noFill/>
          <a:ln/>
        </p:spPr>
        <p:txBody>
          <a:bodyPr wrap="square" lIns="0" tIns="0" rIns="0" bIns="0" rtlCol="0" anchor="ctr"/>
          <a:lstStyle/>
          <a:p>
            <a:pPr marL="0" indent="0">
              <a:buNone/>
            </a:pPr>
            <a:r>
              <a:rPr lang="en-US" sz="1250" dirty="0">
                <a:solidFill>
                  <a:srgbClr val="A8B2C8"/>
                </a:solidFill>
              </a:rPr>
              <a:t>model training with Keras</a:t>
            </a:r>
            <a:endParaRPr lang="en-US" sz="1250" dirty="0"/>
          </a:p>
        </p:txBody>
      </p:sp>
      <p:sp>
        <p:nvSpPr>
          <p:cNvPr id="12" name="Shape 10"/>
          <p:cNvSpPr/>
          <p:nvPr/>
        </p:nvSpPr>
        <p:spPr>
          <a:xfrm>
            <a:off x="868680" y="3602736"/>
            <a:ext cx="3108960" cy="493776"/>
          </a:xfrm>
          <a:prstGeom prst="roundRect">
            <a:avLst>
              <a:gd name="adj" fmla="val 7407"/>
            </a:avLst>
          </a:prstGeom>
          <a:solidFill>
            <a:srgbClr val="17233F"/>
          </a:solidFill>
          <a:ln w="12700">
            <a:solidFill>
              <a:srgbClr val="31405F"/>
            </a:solidFill>
            <a:prstDash val="solid"/>
          </a:ln>
        </p:spPr>
      </p:sp>
      <p:sp>
        <p:nvSpPr>
          <p:cNvPr id="13" name="Text 11"/>
          <p:cNvSpPr/>
          <p:nvPr/>
        </p:nvSpPr>
        <p:spPr>
          <a:xfrm>
            <a:off x="987552" y="3749040"/>
            <a:ext cx="749808" cy="128016"/>
          </a:xfrm>
          <a:prstGeom prst="rect">
            <a:avLst/>
          </a:prstGeom>
          <a:noFill/>
          <a:ln/>
        </p:spPr>
        <p:txBody>
          <a:bodyPr wrap="square" lIns="0" tIns="0" rIns="0" bIns="0" rtlCol="0" anchor="ctr"/>
          <a:lstStyle/>
          <a:p>
            <a:pPr marL="0" indent="0">
              <a:buNone/>
            </a:pPr>
            <a:r>
              <a:rPr lang="en-US" sz="1500" b="1" dirty="0">
                <a:solidFill>
                  <a:srgbClr val="33C3F0"/>
                </a:solidFill>
              </a:rPr>
              <a:t>predict.py</a:t>
            </a:r>
            <a:endParaRPr lang="en-US" sz="1500" dirty="0"/>
          </a:p>
        </p:txBody>
      </p:sp>
      <p:sp>
        <p:nvSpPr>
          <p:cNvPr id="14" name="Text 12"/>
          <p:cNvSpPr/>
          <p:nvPr/>
        </p:nvSpPr>
        <p:spPr>
          <a:xfrm>
            <a:off x="1828800" y="3767328"/>
            <a:ext cx="1920240" cy="109728"/>
          </a:xfrm>
          <a:prstGeom prst="rect">
            <a:avLst/>
          </a:prstGeom>
          <a:noFill/>
          <a:ln/>
        </p:spPr>
        <p:txBody>
          <a:bodyPr wrap="square" lIns="0" tIns="0" rIns="0" bIns="0" rtlCol="0" anchor="ctr"/>
          <a:lstStyle/>
          <a:p>
            <a:pPr marL="0" indent="0">
              <a:buNone/>
            </a:pPr>
            <a:r>
              <a:rPr lang="en-US" sz="1250" dirty="0">
                <a:solidFill>
                  <a:srgbClr val="A8B2C8"/>
                </a:solidFill>
              </a:rPr>
              <a:t>single-video inference</a:t>
            </a:r>
            <a:endParaRPr lang="en-US" sz="1250" dirty="0"/>
          </a:p>
        </p:txBody>
      </p:sp>
      <p:sp>
        <p:nvSpPr>
          <p:cNvPr id="15" name="Shape 13"/>
          <p:cNvSpPr/>
          <p:nvPr/>
        </p:nvSpPr>
        <p:spPr>
          <a:xfrm>
            <a:off x="868680" y="4315968"/>
            <a:ext cx="3108960" cy="493776"/>
          </a:xfrm>
          <a:prstGeom prst="roundRect">
            <a:avLst>
              <a:gd name="adj" fmla="val 7407"/>
            </a:avLst>
          </a:prstGeom>
          <a:solidFill>
            <a:srgbClr val="17233F"/>
          </a:solidFill>
          <a:ln w="12700">
            <a:solidFill>
              <a:srgbClr val="31405F"/>
            </a:solidFill>
            <a:prstDash val="solid"/>
          </a:ln>
        </p:spPr>
      </p:sp>
      <p:sp>
        <p:nvSpPr>
          <p:cNvPr id="16" name="Text 14"/>
          <p:cNvSpPr/>
          <p:nvPr/>
        </p:nvSpPr>
        <p:spPr>
          <a:xfrm>
            <a:off x="987552" y="4462272"/>
            <a:ext cx="749808" cy="128016"/>
          </a:xfrm>
          <a:prstGeom prst="rect">
            <a:avLst/>
          </a:prstGeom>
          <a:noFill/>
          <a:ln/>
        </p:spPr>
        <p:txBody>
          <a:bodyPr wrap="square" lIns="0" tIns="0" rIns="0" bIns="0" rtlCol="0" anchor="ctr"/>
          <a:lstStyle/>
          <a:p>
            <a:pPr marL="0" indent="0">
              <a:buNone/>
            </a:pPr>
            <a:r>
              <a:rPr lang="en-US" sz="1500" b="1" dirty="0">
                <a:solidFill>
                  <a:srgbClr val="33C3F0"/>
                </a:solidFill>
              </a:rPr>
              <a:t>app.py</a:t>
            </a:r>
            <a:endParaRPr lang="en-US" sz="1500" dirty="0"/>
          </a:p>
        </p:txBody>
      </p:sp>
      <p:sp>
        <p:nvSpPr>
          <p:cNvPr id="17" name="Text 15"/>
          <p:cNvSpPr/>
          <p:nvPr/>
        </p:nvSpPr>
        <p:spPr>
          <a:xfrm>
            <a:off x="1828800" y="4480560"/>
            <a:ext cx="1920240" cy="109728"/>
          </a:xfrm>
          <a:prstGeom prst="rect">
            <a:avLst/>
          </a:prstGeom>
          <a:noFill/>
          <a:ln/>
        </p:spPr>
        <p:txBody>
          <a:bodyPr wrap="square" lIns="0" tIns="0" rIns="0" bIns="0" rtlCol="0" anchor="ctr"/>
          <a:lstStyle/>
          <a:p>
            <a:pPr marL="0" indent="0">
              <a:buNone/>
            </a:pPr>
            <a:r>
              <a:rPr lang="en-US" sz="1250" dirty="0">
                <a:solidFill>
                  <a:srgbClr val="A8B2C8"/>
                </a:solidFill>
              </a:rPr>
              <a:t>Flask upload + result page</a:t>
            </a:r>
            <a:endParaRPr lang="en-US" sz="1250" dirty="0"/>
          </a:p>
        </p:txBody>
      </p:sp>
      <p:sp>
        <p:nvSpPr>
          <p:cNvPr id="18" name="Shape 16"/>
          <p:cNvSpPr/>
          <p:nvPr/>
        </p:nvSpPr>
        <p:spPr>
          <a:xfrm>
            <a:off x="868680" y="5029200"/>
            <a:ext cx="3108960" cy="493776"/>
          </a:xfrm>
          <a:prstGeom prst="roundRect">
            <a:avLst>
              <a:gd name="adj" fmla="val 7407"/>
            </a:avLst>
          </a:prstGeom>
          <a:solidFill>
            <a:srgbClr val="17233F"/>
          </a:solidFill>
          <a:ln w="12700">
            <a:solidFill>
              <a:srgbClr val="31405F"/>
            </a:solidFill>
            <a:prstDash val="solid"/>
          </a:ln>
        </p:spPr>
      </p:sp>
      <p:sp>
        <p:nvSpPr>
          <p:cNvPr id="19" name="Text 17"/>
          <p:cNvSpPr/>
          <p:nvPr/>
        </p:nvSpPr>
        <p:spPr>
          <a:xfrm>
            <a:off x="987552" y="5175504"/>
            <a:ext cx="749808" cy="128016"/>
          </a:xfrm>
          <a:prstGeom prst="rect">
            <a:avLst/>
          </a:prstGeom>
          <a:noFill/>
          <a:ln/>
        </p:spPr>
        <p:txBody>
          <a:bodyPr wrap="square" lIns="0" tIns="0" rIns="0" bIns="0" rtlCol="0" anchor="ctr"/>
          <a:lstStyle/>
          <a:p>
            <a:pPr marL="0" indent="0">
              <a:buNone/>
            </a:pPr>
            <a:r>
              <a:rPr lang="en-US" sz="1500" b="1" dirty="0">
                <a:solidFill>
                  <a:srgbClr val="33C3F0"/>
                </a:solidFill>
              </a:rPr>
              <a:t>HTML/CSS</a:t>
            </a:r>
            <a:endParaRPr lang="en-US" sz="1500" dirty="0"/>
          </a:p>
        </p:txBody>
      </p:sp>
      <p:sp>
        <p:nvSpPr>
          <p:cNvPr id="20" name="Text 18"/>
          <p:cNvSpPr/>
          <p:nvPr/>
        </p:nvSpPr>
        <p:spPr>
          <a:xfrm>
            <a:off x="1828800" y="5193792"/>
            <a:ext cx="1920240" cy="109728"/>
          </a:xfrm>
          <a:prstGeom prst="rect">
            <a:avLst/>
          </a:prstGeom>
          <a:noFill/>
          <a:ln/>
        </p:spPr>
        <p:txBody>
          <a:bodyPr wrap="square" lIns="0" tIns="0" rIns="0" bIns="0" rtlCol="0" anchor="ctr"/>
          <a:lstStyle/>
          <a:p>
            <a:pPr marL="0" indent="0">
              <a:buNone/>
            </a:pPr>
            <a:r>
              <a:rPr lang="en-US" sz="1250" dirty="0">
                <a:solidFill>
                  <a:srgbClr val="A8B2C8"/>
                </a:solidFill>
              </a:rPr>
              <a:t>UI improved and customized</a:t>
            </a:r>
            <a:endParaRPr lang="en-US" sz="1250" dirty="0"/>
          </a:p>
        </p:txBody>
      </p:sp>
      <p:sp>
        <p:nvSpPr>
          <p:cNvPr id="22" name="Text 19"/>
          <p:cNvSpPr/>
          <p:nvPr/>
        </p:nvSpPr>
        <p:spPr>
          <a:xfrm>
            <a:off x="4663440" y="5486400"/>
            <a:ext cx="6400800" cy="237744"/>
          </a:xfrm>
          <a:prstGeom prst="rect">
            <a:avLst/>
          </a:prstGeom>
          <a:noFill/>
          <a:ln/>
        </p:spPr>
        <p:txBody>
          <a:bodyPr wrap="square" lIns="0" tIns="0" rIns="0" bIns="0" rtlCol="0" anchor="ctr"/>
          <a:lstStyle/>
          <a:p>
            <a:pPr marL="0" indent="0" algn="ctr">
              <a:buNone/>
            </a:pPr>
            <a:r>
              <a:rPr lang="en-US" sz="1600" dirty="0">
                <a:solidFill>
                  <a:srgbClr val="A8B2C8"/>
                </a:solidFill>
              </a:rPr>
              <a:t>Current UI can upload a video, run prediction, and display the detected action with confidence.</a:t>
            </a:r>
            <a:endParaRPr lang="en-US" sz="1600" dirty="0"/>
          </a:p>
        </p:txBody>
      </p:sp>
      <p:sp>
        <p:nvSpPr>
          <p:cNvPr id="25" name="Slide Number Placeholder 0"/>
          <p:cNvSpPr>
            <a:spLocks noGrp="1"/>
          </p:cNvSpPr>
          <p:nvPr>
            <p:ph type="sldNum" sz="quarter" idx="4294967295"/>
          </p:nvPr>
        </p:nvSpPr>
        <p:spPr>
          <a:xfrm>
            <a:off x="11795760" y="6446520"/>
            <a:ext cx="22860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9AA7C2"/>
                </a:solidFill>
              </a:defRPr>
            </a:lvl1pPr>
          </a:lstStyle>
          <a:p>
            <a:pPr algn="r"/>
            <a:fld id="{F7021451-1387-4CA6-816F-3879F97B5CBC}" type="slidenum">
              <a:rPr lang="en-US" b="0"/>
              <a:t>8</a:t>
            </a:fld>
            <a:endParaRPr lang="en-US"/>
          </a:p>
        </p:txBody>
      </p:sp>
      <p:pic>
        <p:nvPicPr>
          <p:cNvPr id="27" name="Picture 26">
            <a:extLst>
              <a:ext uri="{FF2B5EF4-FFF2-40B4-BE49-F238E27FC236}">
                <a16:creationId xmlns:a16="http://schemas.microsoft.com/office/drawing/2014/main" id="{A930991A-FEE0-5748-C4D0-966B362F6FFA}"/>
              </a:ext>
            </a:extLst>
          </p:cNvPr>
          <p:cNvPicPr>
            <a:picLocks noChangeAspect="1"/>
          </p:cNvPicPr>
          <p:nvPr/>
        </p:nvPicPr>
        <p:blipFill>
          <a:blip r:embed="rId3"/>
          <a:stretch>
            <a:fillRect/>
          </a:stretch>
        </p:blipFill>
        <p:spPr>
          <a:xfrm>
            <a:off x="7471594" y="732362"/>
            <a:ext cx="3299093" cy="454372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411480"/>
            <a:ext cx="8229600" cy="502920"/>
          </a:xfrm>
          <a:prstGeom prst="rect">
            <a:avLst/>
          </a:prstGeom>
          <a:noFill/>
          <a:ln/>
        </p:spPr>
        <p:txBody>
          <a:bodyPr wrap="square" lIns="0" tIns="0" rIns="0" bIns="0" rtlCol="0" anchor="ctr"/>
          <a:lstStyle/>
          <a:p>
            <a:pPr marL="0" indent="0">
              <a:buNone/>
            </a:pPr>
            <a:r>
              <a:rPr lang="en-US" sz="2800" b="1" dirty="0">
                <a:solidFill>
                  <a:srgbClr val="F5F7FB"/>
                </a:solidFill>
              </a:rPr>
              <a:t>5. Testing observations and issues faced</a:t>
            </a:r>
            <a:endParaRPr lang="en-US" sz="2800" dirty="0"/>
          </a:p>
        </p:txBody>
      </p:sp>
      <p:sp>
        <p:nvSpPr>
          <p:cNvPr id="3" name="Text 1"/>
          <p:cNvSpPr/>
          <p:nvPr/>
        </p:nvSpPr>
        <p:spPr>
          <a:xfrm>
            <a:off x="502920" y="941832"/>
            <a:ext cx="7498080" cy="274320"/>
          </a:xfrm>
          <a:prstGeom prst="rect">
            <a:avLst/>
          </a:prstGeom>
          <a:noFill/>
          <a:ln/>
        </p:spPr>
        <p:txBody>
          <a:bodyPr wrap="square" lIns="0" tIns="0" rIns="0" bIns="0" rtlCol="0" anchor="ctr"/>
          <a:lstStyle/>
          <a:p>
            <a:pPr marL="0" indent="0">
              <a:buNone/>
            </a:pPr>
            <a:r>
              <a:rPr lang="en-US" sz="1300" dirty="0">
                <a:solidFill>
                  <a:srgbClr val="A8B2C8"/>
                </a:solidFill>
              </a:rPr>
              <a:t>The main challenge was domain mismatch between clean training videos and real-world uploaded clips.</a:t>
            </a:r>
            <a:endParaRPr lang="en-US" sz="1300" dirty="0"/>
          </a:p>
        </p:txBody>
      </p:sp>
      <p:sp>
        <p:nvSpPr>
          <p:cNvPr id="4" name="Shape 2"/>
          <p:cNvSpPr/>
          <p:nvPr/>
        </p:nvSpPr>
        <p:spPr>
          <a:xfrm>
            <a:off x="548640" y="1417320"/>
            <a:ext cx="4572000" cy="4709160"/>
          </a:xfrm>
          <a:prstGeom prst="roundRect">
            <a:avLst>
              <a:gd name="adj" fmla="val 1600"/>
            </a:avLst>
          </a:prstGeom>
          <a:solidFill>
            <a:srgbClr val="121A2E"/>
          </a:solidFill>
          <a:ln w="12700">
            <a:solidFill>
              <a:srgbClr val="24324F"/>
            </a:solidFill>
            <a:prstDash val="solid"/>
          </a:ln>
        </p:spPr>
      </p:sp>
      <p:pic>
        <p:nvPicPr>
          <p:cNvPr id="5" name="Image 0" descr="/mnt/data/user-dyvTeiWAVbjQ9Unulnx3a2vg/b48e227a9e564d27a835b4dc3bcb973e/mnt/data/sample_0.jpg"/>
          <p:cNvPicPr>
            <a:picLocks noChangeAspect="1"/>
          </p:cNvPicPr>
          <p:nvPr/>
        </p:nvPicPr>
        <p:blipFill>
          <a:blip r:embed="rId3"/>
          <a:srcRect t="505" b="505"/>
          <a:stretch/>
        </p:blipFill>
        <p:spPr>
          <a:xfrm>
            <a:off x="822960" y="1828800"/>
            <a:ext cx="4023360" cy="2240280"/>
          </a:xfrm>
          <a:prstGeom prst="rect">
            <a:avLst/>
          </a:prstGeom>
        </p:spPr>
      </p:pic>
      <p:sp>
        <p:nvSpPr>
          <p:cNvPr id="6" name="Text 3"/>
          <p:cNvSpPr/>
          <p:nvPr/>
        </p:nvSpPr>
        <p:spPr>
          <a:xfrm>
            <a:off x="914400" y="4315968"/>
            <a:ext cx="3566160" cy="164592"/>
          </a:xfrm>
          <a:prstGeom prst="rect">
            <a:avLst/>
          </a:prstGeom>
          <a:noFill/>
          <a:ln/>
        </p:spPr>
        <p:txBody>
          <a:bodyPr wrap="square" lIns="0" tIns="0" rIns="0" bIns="0" rtlCol="0" anchor="ctr"/>
          <a:lstStyle/>
          <a:p>
            <a:pPr marL="0" indent="0" algn="ctr">
              <a:buNone/>
            </a:pPr>
            <a:r>
              <a:rPr lang="en-US" sz="1800" b="1" dirty="0">
                <a:solidFill>
                  <a:srgbClr val="F5F7FB"/>
                </a:solidFill>
              </a:rPr>
              <a:t>Example of a difficult uploaded video</a:t>
            </a:r>
            <a:endParaRPr lang="en-US" sz="1800" dirty="0"/>
          </a:p>
        </p:txBody>
      </p:sp>
      <p:sp>
        <p:nvSpPr>
          <p:cNvPr id="7" name="Text 4"/>
          <p:cNvSpPr/>
          <p:nvPr/>
        </p:nvSpPr>
        <p:spPr>
          <a:xfrm>
            <a:off x="822960" y="4809557"/>
            <a:ext cx="3977640" cy="1097280"/>
          </a:xfrm>
          <a:prstGeom prst="rect">
            <a:avLst/>
          </a:prstGeom>
          <a:noFill/>
          <a:ln/>
        </p:spPr>
        <p:txBody>
          <a:bodyPr wrap="square" lIns="508" tIns="508" rIns="508" bIns="508" rtlCol="0" anchor="ctr"/>
          <a:lstStyle/>
          <a:p>
            <a:pPr marL="177800" indent="-177800">
              <a:buSzPct val="100000"/>
              <a:buChar char="•"/>
            </a:pPr>
            <a:r>
              <a:rPr lang="en-US" sz="1500" dirty="0">
                <a:solidFill>
                  <a:srgbClr val="F5F7FB"/>
                </a:solidFill>
              </a:rPr>
              <a:t>Real-world clip had a beach background, reflections, and a close cropped view.</a:t>
            </a:r>
            <a:endParaRPr lang="en-US" sz="1500" dirty="0"/>
          </a:p>
          <a:p>
            <a:pPr marL="177800" indent="-177800">
              <a:buSzPct val="100000"/>
              <a:buChar char="•"/>
            </a:pPr>
            <a:r>
              <a:rPr lang="en-US" sz="1500" dirty="0">
                <a:solidFill>
                  <a:srgbClr val="F5F7FB"/>
                </a:solidFill>
              </a:rPr>
              <a:t>Full body was not visible in many frames, so action cues became weaker.</a:t>
            </a:r>
            <a:endParaRPr lang="en-US" sz="1500" dirty="0"/>
          </a:p>
          <a:p>
            <a:pPr marL="177800" indent="-177800">
              <a:buSzPct val="100000"/>
              <a:buChar char="•"/>
            </a:pPr>
            <a:r>
              <a:rPr lang="en-US" sz="1500" dirty="0">
                <a:solidFill>
                  <a:srgbClr val="F5F7FB"/>
                </a:solidFill>
              </a:rPr>
              <a:t>This is very different from KTH-style training videos.</a:t>
            </a:r>
            <a:endParaRPr lang="en-US" sz="1500" dirty="0"/>
          </a:p>
        </p:txBody>
      </p:sp>
      <p:sp>
        <p:nvSpPr>
          <p:cNvPr id="8" name="Shape 5"/>
          <p:cNvSpPr/>
          <p:nvPr/>
        </p:nvSpPr>
        <p:spPr>
          <a:xfrm>
            <a:off x="5440680" y="1417320"/>
            <a:ext cx="6172200" cy="4709160"/>
          </a:xfrm>
          <a:prstGeom prst="roundRect">
            <a:avLst>
              <a:gd name="adj" fmla="val 1553"/>
            </a:avLst>
          </a:prstGeom>
          <a:solidFill>
            <a:srgbClr val="16213D"/>
          </a:solidFill>
          <a:ln w="12700">
            <a:solidFill>
              <a:srgbClr val="24324F"/>
            </a:solidFill>
            <a:prstDash val="solid"/>
          </a:ln>
        </p:spPr>
      </p:sp>
      <p:sp>
        <p:nvSpPr>
          <p:cNvPr id="9" name="Text 6"/>
          <p:cNvSpPr/>
          <p:nvPr/>
        </p:nvSpPr>
        <p:spPr>
          <a:xfrm>
            <a:off x="5715000" y="1645920"/>
            <a:ext cx="2468880" cy="182880"/>
          </a:xfrm>
          <a:prstGeom prst="rect">
            <a:avLst/>
          </a:prstGeom>
          <a:noFill/>
          <a:ln/>
        </p:spPr>
        <p:txBody>
          <a:bodyPr wrap="square" lIns="0" tIns="0" rIns="0" bIns="0" rtlCol="0" anchor="ctr"/>
          <a:lstStyle/>
          <a:p>
            <a:pPr marL="0" indent="0">
              <a:buNone/>
            </a:pPr>
            <a:r>
              <a:rPr lang="en-US" sz="2200" b="1" dirty="0">
                <a:solidFill>
                  <a:srgbClr val="F5F7FB"/>
                </a:solidFill>
              </a:rPr>
              <a:t>Main problems identified</a:t>
            </a:r>
            <a:endParaRPr lang="en-US" sz="2200" dirty="0"/>
          </a:p>
        </p:txBody>
      </p:sp>
      <p:sp>
        <p:nvSpPr>
          <p:cNvPr id="10" name="Shape 7"/>
          <p:cNvSpPr/>
          <p:nvPr/>
        </p:nvSpPr>
        <p:spPr>
          <a:xfrm>
            <a:off x="5715000" y="2148840"/>
            <a:ext cx="5532120" cy="566928"/>
          </a:xfrm>
          <a:prstGeom prst="roundRect">
            <a:avLst>
              <a:gd name="adj" fmla="val 6452"/>
            </a:avLst>
          </a:prstGeom>
          <a:solidFill>
            <a:srgbClr val="182646"/>
          </a:solidFill>
          <a:ln w="12700">
            <a:solidFill>
              <a:srgbClr val="F59E0B"/>
            </a:solidFill>
            <a:prstDash val="solid"/>
          </a:ln>
        </p:spPr>
      </p:sp>
      <p:sp>
        <p:nvSpPr>
          <p:cNvPr id="11" name="Shape 8"/>
          <p:cNvSpPr/>
          <p:nvPr/>
        </p:nvSpPr>
        <p:spPr>
          <a:xfrm>
            <a:off x="5870448" y="2331720"/>
            <a:ext cx="164592" cy="164592"/>
          </a:xfrm>
          <a:prstGeom prst="ellipse">
            <a:avLst/>
          </a:prstGeom>
          <a:solidFill>
            <a:srgbClr val="F59E0B"/>
          </a:solidFill>
          <a:ln w="12700">
            <a:solidFill>
              <a:srgbClr val="F59E0B"/>
            </a:solidFill>
            <a:prstDash val="solid"/>
          </a:ln>
        </p:spPr>
      </p:sp>
      <p:sp>
        <p:nvSpPr>
          <p:cNvPr id="12" name="Text 9"/>
          <p:cNvSpPr/>
          <p:nvPr/>
        </p:nvSpPr>
        <p:spPr>
          <a:xfrm>
            <a:off x="6126480" y="2267712"/>
            <a:ext cx="1097280" cy="128016"/>
          </a:xfrm>
          <a:prstGeom prst="rect">
            <a:avLst/>
          </a:prstGeom>
          <a:noFill/>
          <a:ln/>
        </p:spPr>
        <p:txBody>
          <a:bodyPr wrap="square" lIns="0" tIns="0" rIns="0" bIns="0" rtlCol="0" anchor="ctr"/>
          <a:lstStyle/>
          <a:p>
            <a:pPr marL="0" indent="0">
              <a:buNone/>
            </a:pPr>
            <a:r>
              <a:rPr lang="en-US" sz="1500" b="1" dirty="0">
                <a:solidFill>
                  <a:srgbClr val="FFFFFF"/>
                </a:solidFill>
              </a:rPr>
              <a:t>Model accuracy</a:t>
            </a:r>
            <a:endParaRPr lang="en-US" sz="1500" dirty="0"/>
          </a:p>
        </p:txBody>
      </p:sp>
      <p:sp>
        <p:nvSpPr>
          <p:cNvPr id="13" name="Text 10"/>
          <p:cNvSpPr/>
          <p:nvPr/>
        </p:nvSpPr>
        <p:spPr>
          <a:xfrm>
            <a:off x="7360920" y="2231136"/>
            <a:ext cx="3657600" cy="219456"/>
          </a:xfrm>
          <a:prstGeom prst="rect">
            <a:avLst/>
          </a:prstGeom>
          <a:noFill/>
          <a:ln/>
        </p:spPr>
        <p:txBody>
          <a:bodyPr wrap="square" lIns="0" tIns="0" rIns="0" bIns="0" rtlCol="0" anchor="ctr"/>
          <a:lstStyle/>
          <a:p>
            <a:pPr marL="0" indent="0">
              <a:buNone/>
            </a:pPr>
            <a:r>
              <a:rPr lang="en-US" sz="1210" dirty="0">
                <a:solidFill>
                  <a:srgbClr val="A8B2C8"/>
                </a:solidFill>
              </a:rPr>
              <a:t>Initial accuracy around 50% is usable but not yet strong for robust real-world videos.</a:t>
            </a:r>
            <a:endParaRPr lang="en-US" sz="1210" dirty="0"/>
          </a:p>
        </p:txBody>
      </p:sp>
      <p:sp>
        <p:nvSpPr>
          <p:cNvPr id="14" name="Shape 11"/>
          <p:cNvSpPr/>
          <p:nvPr/>
        </p:nvSpPr>
        <p:spPr>
          <a:xfrm>
            <a:off x="5715000" y="2916936"/>
            <a:ext cx="5532120" cy="566928"/>
          </a:xfrm>
          <a:prstGeom prst="roundRect">
            <a:avLst>
              <a:gd name="adj" fmla="val 6452"/>
            </a:avLst>
          </a:prstGeom>
          <a:solidFill>
            <a:srgbClr val="182646"/>
          </a:solidFill>
          <a:ln w="12700">
            <a:solidFill>
              <a:srgbClr val="EF4444"/>
            </a:solidFill>
            <a:prstDash val="solid"/>
          </a:ln>
        </p:spPr>
      </p:sp>
      <p:sp>
        <p:nvSpPr>
          <p:cNvPr id="15" name="Shape 12"/>
          <p:cNvSpPr/>
          <p:nvPr/>
        </p:nvSpPr>
        <p:spPr>
          <a:xfrm>
            <a:off x="5870448" y="3099816"/>
            <a:ext cx="164592" cy="164592"/>
          </a:xfrm>
          <a:prstGeom prst="ellipse">
            <a:avLst/>
          </a:prstGeom>
          <a:solidFill>
            <a:srgbClr val="EF4444"/>
          </a:solidFill>
          <a:ln w="12700">
            <a:solidFill>
              <a:srgbClr val="EF4444"/>
            </a:solidFill>
            <a:prstDash val="solid"/>
          </a:ln>
        </p:spPr>
      </p:sp>
      <p:sp>
        <p:nvSpPr>
          <p:cNvPr id="16" name="Text 13"/>
          <p:cNvSpPr/>
          <p:nvPr/>
        </p:nvSpPr>
        <p:spPr>
          <a:xfrm>
            <a:off x="6126480" y="3035808"/>
            <a:ext cx="1097280" cy="128016"/>
          </a:xfrm>
          <a:prstGeom prst="rect">
            <a:avLst/>
          </a:prstGeom>
          <a:noFill/>
          <a:ln/>
        </p:spPr>
        <p:txBody>
          <a:bodyPr wrap="square" lIns="0" tIns="0" rIns="0" bIns="0" rtlCol="0" anchor="ctr"/>
          <a:lstStyle/>
          <a:p>
            <a:pPr marL="0" indent="0">
              <a:buNone/>
            </a:pPr>
            <a:r>
              <a:rPr lang="en-US" sz="1500" b="1" dirty="0">
                <a:solidFill>
                  <a:srgbClr val="FFFFFF"/>
                </a:solidFill>
              </a:rPr>
              <a:t>Browser playback</a:t>
            </a:r>
            <a:endParaRPr lang="en-US" sz="1500" dirty="0"/>
          </a:p>
        </p:txBody>
      </p:sp>
      <p:sp>
        <p:nvSpPr>
          <p:cNvPr id="17" name="Text 14"/>
          <p:cNvSpPr/>
          <p:nvPr/>
        </p:nvSpPr>
        <p:spPr>
          <a:xfrm>
            <a:off x="7360920" y="2999232"/>
            <a:ext cx="3657600" cy="219456"/>
          </a:xfrm>
          <a:prstGeom prst="rect">
            <a:avLst/>
          </a:prstGeom>
          <a:noFill/>
          <a:ln/>
        </p:spPr>
        <p:txBody>
          <a:bodyPr wrap="square" lIns="0" tIns="0" rIns="0" bIns="0" rtlCol="0" anchor="ctr"/>
          <a:lstStyle/>
          <a:p>
            <a:pPr marL="0" indent="0">
              <a:buNone/>
            </a:pPr>
            <a:r>
              <a:rPr lang="en-US" sz="1210" dirty="0">
                <a:solidFill>
                  <a:srgbClr val="A8B2C8"/>
                </a:solidFill>
              </a:rPr>
              <a:t>MP4 generally plays in-browser; AVI/MOV often require conversion for reliable playback.</a:t>
            </a:r>
            <a:endParaRPr lang="en-US" sz="1210" dirty="0"/>
          </a:p>
        </p:txBody>
      </p:sp>
      <p:sp>
        <p:nvSpPr>
          <p:cNvPr id="18" name="Shape 15"/>
          <p:cNvSpPr/>
          <p:nvPr/>
        </p:nvSpPr>
        <p:spPr>
          <a:xfrm>
            <a:off x="5715000" y="3685032"/>
            <a:ext cx="5532120" cy="566928"/>
          </a:xfrm>
          <a:prstGeom prst="roundRect">
            <a:avLst>
              <a:gd name="adj" fmla="val 6452"/>
            </a:avLst>
          </a:prstGeom>
          <a:solidFill>
            <a:srgbClr val="182646"/>
          </a:solidFill>
          <a:ln w="12700">
            <a:solidFill>
              <a:srgbClr val="22C55E"/>
            </a:solidFill>
            <a:prstDash val="solid"/>
          </a:ln>
        </p:spPr>
      </p:sp>
      <p:sp>
        <p:nvSpPr>
          <p:cNvPr id="19" name="Shape 16"/>
          <p:cNvSpPr/>
          <p:nvPr/>
        </p:nvSpPr>
        <p:spPr>
          <a:xfrm>
            <a:off x="5870448" y="3867912"/>
            <a:ext cx="164592" cy="164592"/>
          </a:xfrm>
          <a:prstGeom prst="ellipse">
            <a:avLst/>
          </a:prstGeom>
          <a:solidFill>
            <a:srgbClr val="22C55E"/>
          </a:solidFill>
          <a:ln w="12700">
            <a:solidFill>
              <a:srgbClr val="22C55E"/>
            </a:solidFill>
            <a:prstDash val="solid"/>
          </a:ln>
        </p:spPr>
      </p:sp>
      <p:sp>
        <p:nvSpPr>
          <p:cNvPr id="20" name="Text 17"/>
          <p:cNvSpPr/>
          <p:nvPr/>
        </p:nvSpPr>
        <p:spPr>
          <a:xfrm>
            <a:off x="6126480" y="3803904"/>
            <a:ext cx="1097280" cy="128016"/>
          </a:xfrm>
          <a:prstGeom prst="rect">
            <a:avLst/>
          </a:prstGeom>
          <a:noFill/>
          <a:ln/>
        </p:spPr>
        <p:txBody>
          <a:bodyPr wrap="square" lIns="0" tIns="0" rIns="0" bIns="0" rtlCol="0" anchor="ctr"/>
          <a:lstStyle/>
          <a:p>
            <a:pPr marL="0" indent="0">
              <a:buNone/>
            </a:pPr>
            <a:r>
              <a:rPr lang="en-US" sz="1500" b="1" dirty="0">
                <a:solidFill>
                  <a:srgbClr val="FFFFFF"/>
                </a:solidFill>
              </a:rPr>
              <a:t>Silhouette extraction</a:t>
            </a:r>
            <a:endParaRPr lang="en-US" sz="1500" dirty="0"/>
          </a:p>
        </p:txBody>
      </p:sp>
      <p:sp>
        <p:nvSpPr>
          <p:cNvPr id="21" name="Text 18"/>
          <p:cNvSpPr/>
          <p:nvPr/>
        </p:nvSpPr>
        <p:spPr>
          <a:xfrm>
            <a:off x="7360920" y="3767328"/>
            <a:ext cx="3657600" cy="219456"/>
          </a:xfrm>
          <a:prstGeom prst="rect">
            <a:avLst/>
          </a:prstGeom>
          <a:noFill/>
          <a:ln/>
        </p:spPr>
        <p:txBody>
          <a:bodyPr wrap="square" lIns="0" tIns="0" rIns="0" bIns="0" rtlCol="0" anchor="ctr"/>
          <a:lstStyle/>
          <a:p>
            <a:pPr marL="0" indent="0">
              <a:buNone/>
            </a:pPr>
            <a:r>
              <a:rPr lang="en-US" sz="1210" dirty="0">
                <a:solidFill>
                  <a:srgbClr val="A8B2C8"/>
                </a:solidFill>
              </a:rPr>
              <a:t>Background subtraction struggles when the scene is dynamic or the body is partially visible.</a:t>
            </a:r>
            <a:endParaRPr lang="en-US" sz="1210" dirty="0"/>
          </a:p>
        </p:txBody>
      </p:sp>
      <p:sp>
        <p:nvSpPr>
          <p:cNvPr id="22" name="Shape 19"/>
          <p:cNvSpPr/>
          <p:nvPr/>
        </p:nvSpPr>
        <p:spPr>
          <a:xfrm>
            <a:off x="5715000" y="4453128"/>
            <a:ext cx="5532120" cy="566928"/>
          </a:xfrm>
          <a:prstGeom prst="roundRect">
            <a:avLst>
              <a:gd name="adj" fmla="val 6452"/>
            </a:avLst>
          </a:prstGeom>
          <a:solidFill>
            <a:srgbClr val="182646"/>
          </a:solidFill>
          <a:ln w="12700">
            <a:solidFill>
              <a:srgbClr val="5B7CFA"/>
            </a:solidFill>
            <a:prstDash val="solid"/>
          </a:ln>
        </p:spPr>
      </p:sp>
      <p:sp>
        <p:nvSpPr>
          <p:cNvPr id="23" name="Shape 20"/>
          <p:cNvSpPr/>
          <p:nvPr/>
        </p:nvSpPr>
        <p:spPr>
          <a:xfrm>
            <a:off x="5870448" y="4636008"/>
            <a:ext cx="164592" cy="164592"/>
          </a:xfrm>
          <a:prstGeom prst="ellipse">
            <a:avLst/>
          </a:prstGeom>
          <a:solidFill>
            <a:srgbClr val="5B7CFA"/>
          </a:solidFill>
          <a:ln w="12700">
            <a:solidFill>
              <a:srgbClr val="5B7CFA"/>
            </a:solidFill>
            <a:prstDash val="solid"/>
          </a:ln>
        </p:spPr>
      </p:sp>
      <p:sp>
        <p:nvSpPr>
          <p:cNvPr id="24" name="Text 21"/>
          <p:cNvSpPr/>
          <p:nvPr/>
        </p:nvSpPr>
        <p:spPr>
          <a:xfrm>
            <a:off x="6126480" y="4572000"/>
            <a:ext cx="1097280" cy="128016"/>
          </a:xfrm>
          <a:prstGeom prst="rect">
            <a:avLst/>
          </a:prstGeom>
          <a:noFill/>
          <a:ln/>
        </p:spPr>
        <p:txBody>
          <a:bodyPr wrap="square" lIns="0" tIns="0" rIns="0" bIns="0" rtlCol="0" anchor="ctr"/>
          <a:lstStyle/>
          <a:p>
            <a:pPr marL="0" indent="0">
              <a:buNone/>
            </a:pPr>
            <a:r>
              <a:rPr lang="en-US" sz="1500" b="1" dirty="0">
                <a:solidFill>
                  <a:srgbClr val="FFFFFF"/>
                </a:solidFill>
              </a:rPr>
              <a:t>Training time</a:t>
            </a:r>
            <a:endParaRPr lang="en-US" sz="1500" dirty="0"/>
          </a:p>
        </p:txBody>
      </p:sp>
      <p:sp>
        <p:nvSpPr>
          <p:cNvPr id="25" name="Text 22"/>
          <p:cNvSpPr/>
          <p:nvPr/>
        </p:nvSpPr>
        <p:spPr>
          <a:xfrm>
            <a:off x="7360920" y="4535424"/>
            <a:ext cx="3657600" cy="219456"/>
          </a:xfrm>
          <a:prstGeom prst="rect">
            <a:avLst/>
          </a:prstGeom>
          <a:noFill/>
          <a:ln/>
        </p:spPr>
        <p:txBody>
          <a:bodyPr wrap="square" lIns="0" tIns="0" rIns="0" bIns="0" rtlCol="0" anchor="ctr"/>
          <a:lstStyle/>
          <a:p>
            <a:pPr marL="0" indent="0">
              <a:buNone/>
            </a:pPr>
            <a:r>
              <a:rPr lang="en-US" sz="1210" dirty="0">
                <a:solidFill>
                  <a:srgbClr val="A8B2C8"/>
                </a:solidFill>
              </a:rPr>
              <a:t>Dataset loading and frame extraction can take noticeable time before each training run.</a:t>
            </a:r>
            <a:endParaRPr lang="en-US" sz="1210" dirty="0"/>
          </a:p>
        </p:txBody>
      </p:sp>
      <p:sp>
        <p:nvSpPr>
          <p:cNvPr id="26" name="Slide Number Placeholder 0"/>
          <p:cNvSpPr>
            <a:spLocks noGrp="1"/>
          </p:cNvSpPr>
          <p:nvPr>
            <p:ph type="sldNum" sz="quarter" idx="4294967295"/>
          </p:nvPr>
        </p:nvSpPr>
        <p:spPr>
          <a:xfrm>
            <a:off x="11795760" y="6446520"/>
            <a:ext cx="22860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9AA7C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411480"/>
            <a:ext cx="8229600" cy="502920"/>
          </a:xfrm>
          <a:prstGeom prst="rect">
            <a:avLst/>
          </a:prstGeom>
          <a:noFill/>
          <a:ln/>
        </p:spPr>
        <p:txBody>
          <a:bodyPr wrap="square" lIns="0" tIns="0" rIns="0" bIns="0" rtlCol="0" anchor="ctr"/>
          <a:lstStyle/>
          <a:p>
            <a:pPr marL="0" indent="0">
              <a:buNone/>
            </a:pPr>
            <a:r>
              <a:rPr lang="en-US" sz="2800" b="1" dirty="0">
                <a:solidFill>
                  <a:srgbClr val="F5F7FB"/>
                </a:solidFill>
              </a:rPr>
              <a:t>6. Current status: what is working now</a:t>
            </a:r>
            <a:endParaRPr lang="en-US" sz="2800" dirty="0"/>
          </a:p>
        </p:txBody>
      </p:sp>
      <p:sp>
        <p:nvSpPr>
          <p:cNvPr id="3" name="Text 1"/>
          <p:cNvSpPr/>
          <p:nvPr/>
        </p:nvSpPr>
        <p:spPr>
          <a:xfrm>
            <a:off x="502920" y="941832"/>
            <a:ext cx="7498080" cy="274320"/>
          </a:xfrm>
          <a:prstGeom prst="rect">
            <a:avLst/>
          </a:prstGeom>
          <a:noFill/>
          <a:ln/>
        </p:spPr>
        <p:txBody>
          <a:bodyPr wrap="square" lIns="0" tIns="0" rIns="0" bIns="0" rtlCol="0" anchor="ctr"/>
          <a:lstStyle/>
          <a:p>
            <a:pPr marL="0" indent="0">
              <a:buNone/>
            </a:pPr>
            <a:r>
              <a:rPr lang="en-US" sz="1300" dirty="0">
                <a:solidFill>
                  <a:srgbClr val="A8B2C8"/>
                </a:solidFill>
              </a:rPr>
              <a:t>The project is already functional as a student demo, with clear paths for improvement.</a:t>
            </a:r>
            <a:endParaRPr lang="en-US" sz="1300" dirty="0"/>
          </a:p>
        </p:txBody>
      </p:sp>
      <p:sp>
        <p:nvSpPr>
          <p:cNvPr id="4" name="Shape 2"/>
          <p:cNvSpPr/>
          <p:nvPr/>
        </p:nvSpPr>
        <p:spPr>
          <a:xfrm>
            <a:off x="685800" y="1600200"/>
            <a:ext cx="3429000" cy="4370832"/>
          </a:xfrm>
          <a:prstGeom prst="roundRect">
            <a:avLst>
              <a:gd name="adj" fmla="val 2133"/>
            </a:avLst>
          </a:prstGeom>
          <a:solidFill>
            <a:srgbClr val="121A2E"/>
          </a:solidFill>
          <a:ln w="12700">
            <a:solidFill>
              <a:srgbClr val="24324F"/>
            </a:solidFill>
            <a:prstDash val="solid"/>
          </a:ln>
        </p:spPr>
      </p:sp>
      <p:sp>
        <p:nvSpPr>
          <p:cNvPr id="5" name="Text 3"/>
          <p:cNvSpPr/>
          <p:nvPr/>
        </p:nvSpPr>
        <p:spPr>
          <a:xfrm>
            <a:off x="886968" y="1874520"/>
            <a:ext cx="2011680" cy="182880"/>
          </a:xfrm>
          <a:prstGeom prst="rect">
            <a:avLst/>
          </a:prstGeom>
          <a:noFill/>
          <a:ln/>
        </p:spPr>
        <p:txBody>
          <a:bodyPr wrap="square" lIns="0" tIns="0" rIns="0" bIns="0" rtlCol="0" anchor="ctr"/>
          <a:lstStyle/>
          <a:p>
            <a:pPr marL="0" indent="0">
              <a:buNone/>
            </a:pPr>
            <a:r>
              <a:rPr lang="en-US" sz="2200" b="1" dirty="0">
                <a:solidFill>
                  <a:srgbClr val="22C55E"/>
                </a:solidFill>
              </a:rPr>
              <a:t>Completed</a:t>
            </a:r>
            <a:endParaRPr lang="en-US" sz="2200" dirty="0"/>
          </a:p>
        </p:txBody>
      </p:sp>
      <p:sp>
        <p:nvSpPr>
          <p:cNvPr id="6" name="Text 4"/>
          <p:cNvSpPr/>
          <p:nvPr/>
        </p:nvSpPr>
        <p:spPr>
          <a:xfrm>
            <a:off x="850392" y="2286000"/>
            <a:ext cx="2971800" cy="3200400"/>
          </a:xfrm>
          <a:prstGeom prst="rect">
            <a:avLst/>
          </a:prstGeom>
          <a:noFill/>
          <a:ln/>
        </p:spPr>
        <p:txBody>
          <a:bodyPr wrap="square" lIns="508" tIns="508" rIns="508" bIns="508" rtlCol="0" anchor="ctr"/>
          <a:lstStyle/>
          <a:p>
            <a:pPr marL="177800" indent="-177800">
              <a:buSzPct val="100000"/>
              <a:buChar char="•"/>
            </a:pPr>
            <a:r>
              <a:rPr lang="en-US" sz="1600" dirty="0">
                <a:solidFill>
                  <a:srgbClr val="F5F7FB"/>
                </a:solidFill>
              </a:rPr>
              <a:t>Topic finalized as action recognition</a:t>
            </a:r>
            <a:endParaRPr lang="en-US" sz="1600" dirty="0"/>
          </a:p>
          <a:p>
            <a:pPr marL="177800" indent="-177800">
              <a:buSzPct val="100000"/>
              <a:buChar char="•"/>
            </a:pPr>
            <a:r>
              <a:rPr lang="en-US" sz="1600" dirty="0">
                <a:solidFill>
                  <a:srgbClr val="F5F7FB"/>
                </a:solidFill>
              </a:rPr>
              <a:t>Dataset folders prepared</a:t>
            </a:r>
            <a:endParaRPr lang="en-US" sz="1600" dirty="0"/>
          </a:p>
          <a:p>
            <a:pPr marL="177800" indent="-177800">
              <a:buSzPct val="100000"/>
              <a:buChar char="•"/>
            </a:pPr>
            <a:r>
              <a:rPr lang="en-US" sz="1600" dirty="0">
                <a:solidFill>
                  <a:srgbClr val="F5F7FB"/>
                </a:solidFill>
              </a:rPr>
              <a:t>Training and prediction scripts written</a:t>
            </a:r>
            <a:endParaRPr lang="en-US" sz="1600" dirty="0"/>
          </a:p>
          <a:p>
            <a:pPr marL="177800" indent="-177800">
              <a:buSzPct val="100000"/>
              <a:buChar char="•"/>
            </a:pPr>
            <a:r>
              <a:rPr lang="en-US" sz="1600" dirty="0">
                <a:solidFill>
                  <a:srgbClr val="F5F7FB"/>
                </a:solidFill>
              </a:rPr>
              <a:t>Flask upload UI built</a:t>
            </a:r>
            <a:endParaRPr lang="en-US" sz="1600" dirty="0"/>
          </a:p>
          <a:p>
            <a:pPr marL="177800" indent="-177800">
              <a:buSzPct val="100000"/>
              <a:buChar char="•"/>
            </a:pPr>
            <a:r>
              <a:rPr lang="en-US" sz="1600" dirty="0">
                <a:solidFill>
                  <a:srgbClr val="F5F7FB"/>
                </a:solidFill>
              </a:rPr>
              <a:t>Basic results shown with confidence</a:t>
            </a:r>
            <a:endParaRPr lang="en-US" sz="1600" dirty="0"/>
          </a:p>
        </p:txBody>
      </p:sp>
      <p:sp>
        <p:nvSpPr>
          <p:cNvPr id="7" name="Shape 5"/>
          <p:cNvSpPr/>
          <p:nvPr/>
        </p:nvSpPr>
        <p:spPr>
          <a:xfrm>
            <a:off x="4507992" y="1600200"/>
            <a:ext cx="3429000" cy="4370832"/>
          </a:xfrm>
          <a:prstGeom prst="roundRect">
            <a:avLst>
              <a:gd name="adj" fmla="val 2133"/>
            </a:avLst>
          </a:prstGeom>
          <a:solidFill>
            <a:srgbClr val="16213D"/>
          </a:solidFill>
          <a:ln w="12700">
            <a:solidFill>
              <a:srgbClr val="24324F"/>
            </a:solidFill>
            <a:prstDash val="solid"/>
          </a:ln>
        </p:spPr>
      </p:sp>
      <p:sp>
        <p:nvSpPr>
          <p:cNvPr id="8" name="Text 6"/>
          <p:cNvSpPr/>
          <p:nvPr/>
        </p:nvSpPr>
        <p:spPr>
          <a:xfrm>
            <a:off x="4709160" y="1874520"/>
            <a:ext cx="2011680" cy="182880"/>
          </a:xfrm>
          <a:prstGeom prst="rect">
            <a:avLst/>
          </a:prstGeom>
          <a:noFill/>
          <a:ln/>
        </p:spPr>
        <p:txBody>
          <a:bodyPr wrap="square" lIns="0" tIns="0" rIns="0" bIns="0" rtlCol="0" anchor="ctr"/>
          <a:lstStyle/>
          <a:p>
            <a:pPr marL="0" indent="0">
              <a:buNone/>
            </a:pPr>
            <a:r>
              <a:rPr lang="en-US" sz="2200" b="1" dirty="0">
                <a:solidFill>
                  <a:srgbClr val="33C3F0"/>
                </a:solidFill>
              </a:rPr>
              <a:t>Working demo</a:t>
            </a:r>
            <a:endParaRPr lang="en-US" sz="2200" dirty="0"/>
          </a:p>
        </p:txBody>
      </p:sp>
      <p:sp>
        <p:nvSpPr>
          <p:cNvPr id="9" name="Text 7"/>
          <p:cNvSpPr/>
          <p:nvPr/>
        </p:nvSpPr>
        <p:spPr>
          <a:xfrm>
            <a:off x="4672584" y="2286000"/>
            <a:ext cx="2971800" cy="3200400"/>
          </a:xfrm>
          <a:prstGeom prst="rect">
            <a:avLst/>
          </a:prstGeom>
          <a:noFill/>
          <a:ln/>
        </p:spPr>
        <p:txBody>
          <a:bodyPr wrap="square" lIns="508" tIns="508" rIns="508" bIns="508" rtlCol="0" anchor="ctr"/>
          <a:lstStyle/>
          <a:p>
            <a:pPr marL="177800" indent="-177800">
              <a:buSzPct val="100000"/>
              <a:buChar char="•"/>
            </a:pPr>
            <a:r>
              <a:rPr lang="en-US" sz="1600" dirty="0">
                <a:solidFill>
                  <a:srgbClr val="F5F7FB"/>
                </a:solidFill>
              </a:rPr>
              <a:t>Upload a video clip</a:t>
            </a:r>
            <a:endParaRPr lang="en-US" sz="1600" dirty="0"/>
          </a:p>
          <a:p>
            <a:pPr marL="177800" indent="-177800">
              <a:buSzPct val="100000"/>
              <a:buChar char="•"/>
            </a:pPr>
            <a:r>
              <a:rPr lang="en-US" sz="1600" dirty="0">
                <a:solidFill>
                  <a:srgbClr val="F5F7FB"/>
                </a:solidFill>
              </a:rPr>
              <a:t>Read frames with OpenCV</a:t>
            </a:r>
            <a:endParaRPr lang="en-US" sz="1600" dirty="0"/>
          </a:p>
          <a:p>
            <a:pPr marL="177800" indent="-177800">
              <a:buSzPct val="100000"/>
              <a:buChar char="•"/>
            </a:pPr>
            <a:r>
              <a:rPr lang="en-US" sz="1600" dirty="0">
                <a:solidFill>
                  <a:srgbClr val="F5F7FB"/>
                </a:solidFill>
              </a:rPr>
              <a:t>Run trained model</a:t>
            </a:r>
            <a:endParaRPr lang="en-US" sz="1600" dirty="0"/>
          </a:p>
          <a:p>
            <a:pPr marL="177800" indent="-177800">
              <a:buSzPct val="100000"/>
              <a:buChar char="•"/>
            </a:pPr>
            <a:r>
              <a:rPr lang="en-US" sz="1600" dirty="0">
                <a:solidFill>
                  <a:srgbClr val="F5F7FB"/>
                </a:solidFill>
              </a:rPr>
              <a:t>Return predicted action label</a:t>
            </a:r>
            <a:endParaRPr lang="en-US" sz="1600" dirty="0"/>
          </a:p>
        </p:txBody>
      </p:sp>
      <p:sp>
        <p:nvSpPr>
          <p:cNvPr id="10" name="Shape 8"/>
          <p:cNvSpPr/>
          <p:nvPr/>
        </p:nvSpPr>
        <p:spPr>
          <a:xfrm>
            <a:off x="8330184" y="1600200"/>
            <a:ext cx="3429000" cy="4370832"/>
          </a:xfrm>
          <a:prstGeom prst="roundRect">
            <a:avLst>
              <a:gd name="adj" fmla="val 2133"/>
            </a:avLst>
          </a:prstGeom>
          <a:solidFill>
            <a:srgbClr val="24171A"/>
          </a:solidFill>
          <a:ln w="12700">
            <a:solidFill>
              <a:srgbClr val="EF4444"/>
            </a:solidFill>
            <a:prstDash val="solid"/>
          </a:ln>
        </p:spPr>
      </p:sp>
      <p:sp>
        <p:nvSpPr>
          <p:cNvPr id="11" name="Text 9"/>
          <p:cNvSpPr/>
          <p:nvPr/>
        </p:nvSpPr>
        <p:spPr>
          <a:xfrm>
            <a:off x="8531352" y="1874520"/>
            <a:ext cx="2011680" cy="182880"/>
          </a:xfrm>
          <a:prstGeom prst="rect">
            <a:avLst/>
          </a:prstGeom>
          <a:noFill/>
          <a:ln/>
        </p:spPr>
        <p:txBody>
          <a:bodyPr wrap="square" lIns="0" tIns="0" rIns="0" bIns="0" rtlCol="0" anchor="ctr"/>
          <a:lstStyle/>
          <a:p>
            <a:pPr marL="0" indent="0">
              <a:buNone/>
            </a:pPr>
            <a:r>
              <a:rPr lang="en-US" sz="2200" b="1" dirty="0">
                <a:solidFill>
                  <a:srgbClr val="FCA5A5"/>
                </a:solidFill>
              </a:rPr>
              <a:t>Known limitations</a:t>
            </a:r>
            <a:endParaRPr lang="en-US" sz="2200" dirty="0"/>
          </a:p>
        </p:txBody>
      </p:sp>
      <p:sp>
        <p:nvSpPr>
          <p:cNvPr id="12" name="Text 10"/>
          <p:cNvSpPr/>
          <p:nvPr/>
        </p:nvSpPr>
        <p:spPr>
          <a:xfrm>
            <a:off x="8494776" y="2286000"/>
            <a:ext cx="2971800" cy="3200400"/>
          </a:xfrm>
          <a:prstGeom prst="rect">
            <a:avLst/>
          </a:prstGeom>
          <a:noFill/>
          <a:ln/>
        </p:spPr>
        <p:txBody>
          <a:bodyPr wrap="square" lIns="508" tIns="508" rIns="508" bIns="508" rtlCol="0" anchor="ctr"/>
          <a:lstStyle/>
          <a:p>
            <a:pPr marL="177800" indent="-177800">
              <a:buSzPct val="100000"/>
              <a:buChar char="•"/>
            </a:pPr>
            <a:r>
              <a:rPr lang="en-US" sz="1600" dirty="0">
                <a:solidFill>
                  <a:srgbClr val="F5F7FB"/>
                </a:solidFill>
              </a:rPr>
              <a:t>Generalization to random internet videos is weak</a:t>
            </a:r>
            <a:endParaRPr lang="en-US" sz="1600" dirty="0"/>
          </a:p>
          <a:p>
            <a:pPr marL="177800" indent="-177800">
              <a:buSzPct val="100000"/>
              <a:buChar char="•"/>
            </a:pPr>
            <a:r>
              <a:rPr lang="en-US" sz="1600" dirty="0">
                <a:solidFill>
                  <a:srgbClr val="F5F7FB"/>
                </a:solidFill>
              </a:rPr>
              <a:t>AVI browser playback is unreliable</a:t>
            </a:r>
            <a:endParaRPr lang="en-US" sz="1600" dirty="0"/>
          </a:p>
          <a:p>
            <a:pPr marL="177800" indent="-177800">
              <a:buSzPct val="100000"/>
              <a:buChar char="•"/>
            </a:pPr>
            <a:r>
              <a:rPr lang="en-US" sz="1600" dirty="0">
                <a:solidFill>
                  <a:srgbClr val="F5F7FB"/>
                </a:solidFill>
              </a:rPr>
              <a:t>Model still needs stronger accuracy and robustness</a:t>
            </a:r>
            <a:endParaRPr lang="en-US" sz="1600" dirty="0"/>
          </a:p>
        </p:txBody>
      </p:sp>
      <p:sp>
        <p:nvSpPr>
          <p:cNvPr id="25" name="Slide Number Placeholder 0"/>
          <p:cNvSpPr>
            <a:spLocks noGrp="1"/>
          </p:cNvSpPr>
          <p:nvPr>
            <p:ph type="sldNum" sz="quarter" idx="4294967295"/>
          </p:nvPr>
        </p:nvSpPr>
        <p:spPr>
          <a:xfrm>
            <a:off x="11795760" y="6446520"/>
            <a:ext cx="22860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9AA7C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411480"/>
            <a:ext cx="8229600" cy="502920"/>
          </a:xfrm>
          <a:prstGeom prst="rect">
            <a:avLst/>
          </a:prstGeom>
          <a:noFill/>
          <a:ln/>
        </p:spPr>
        <p:txBody>
          <a:bodyPr wrap="square" lIns="0" tIns="0" rIns="0" bIns="0" rtlCol="0" anchor="ctr"/>
          <a:lstStyle/>
          <a:p>
            <a:pPr marL="0" indent="0">
              <a:buNone/>
            </a:pPr>
            <a:r>
              <a:rPr lang="en-US" sz="2800" b="1" dirty="0">
                <a:solidFill>
                  <a:srgbClr val="F5F7FB"/>
                </a:solidFill>
              </a:rPr>
              <a:t>7. Next steps to improve the project</a:t>
            </a:r>
            <a:endParaRPr lang="en-US" sz="2800" dirty="0"/>
          </a:p>
        </p:txBody>
      </p:sp>
      <p:sp>
        <p:nvSpPr>
          <p:cNvPr id="3" name="Text 1"/>
          <p:cNvSpPr/>
          <p:nvPr/>
        </p:nvSpPr>
        <p:spPr>
          <a:xfrm>
            <a:off x="502920" y="941832"/>
            <a:ext cx="7498080" cy="274320"/>
          </a:xfrm>
          <a:prstGeom prst="rect">
            <a:avLst/>
          </a:prstGeom>
          <a:noFill/>
          <a:ln/>
        </p:spPr>
        <p:txBody>
          <a:bodyPr wrap="square" lIns="0" tIns="0" rIns="0" bIns="0" rtlCol="0" anchor="ctr"/>
          <a:lstStyle/>
          <a:p>
            <a:pPr marL="0" indent="0">
              <a:buNone/>
            </a:pPr>
            <a:r>
              <a:rPr lang="en-US" sz="1300" dirty="0">
                <a:solidFill>
                  <a:srgbClr val="A8B2C8"/>
                </a:solidFill>
              </a:rPr>
              <a:t>The immediate focus is better robustness for uploaded real-world videos.</a:t>
            </a:r>
            <a:endParaRPr lang="en-US" sz="1300" dirty="0"/>
          </a:p>
        </p:txBody>
      </p:sp>
      <p:sp>
        <p:nvSpPr>
          <p:cNvPr id="4" name="Text 2"/>
          <p:cNvSpPr/>
          <p:nvPr/>
        </p:nvSpPr>
        <p:spPr>
          <a:xfrm>
            <a:off x="2862072" y="2852928"/>
            <a:ext cx="201168" cy="109728"/>
          </a:xfrm>
          <a:prstGeom prst="rect">
            <a:avLst/>
          </a:prstGeom>
          <a:noFill/>
          <a:ln/>
        </p:spPr>
        <p:txBody>
          <a:bodyPr wrap="square" lIns="0" tIns="0" rIns="0" bIns="0" rtlCol="0" anchor="ctr"/>
          <a:lstStyle/>
          <a:p>
            <a:pPr marL="0" indent="0" algn="ctr">
              <a:buNone/>
            </a:pPr>
            <a:r>
              <a:rPr lang="en-US" sz="1600" b="1" dirty="0">
                <a:solidFill>
                  <a:srgbClr val="5B7CFA"/>
                </a:solidFill>
              </a:rPr>
              <a:t>→</a:t>
            </a:r>
            <a:endParaRPr lang="en-US" sz="1600" dirty="0"/>
          </a:p>
        </p:txBody>
      </p:sp>
      <p:sp>
        <p:nvSpPr>
          <p:cNvPr id="5" name="Text 3"/>
          <p:cNvSpPr/>
          <p:nvPr/>
        </p:nvSpPr>
        <p:spPr>
          <a:xfrm>
            <a:off x="5650992" y="2852928"/>
            <a:ext cx="201168" cy="109728"/>
          </a:xfrm>
          <a:prstGeom prst="rect">
            <a:avLst/>
          </a:prstGeom>
          <a:noFill/>
          <a:ln/>
        </p:spPr>
        <p:txBody>
          <a:bodyPr wrap="square" lIns="0" tIns="0" rIns="0" bIns="0" rtlCol="0" anchor="ctr"/>
          <a:lstStyle/>
          <a:p>
            <a:pPr marL="0" indent="0" algn="ctr">
              <a:buNone/>
            </a:pPr>
            <a:r>
              <a:rPr lang="en-US" sz="1600" b="1" dirty="0">
                <a:solidFill>
                  <a:srgbClr val="5B7CFA"/>
                </a:solidFill>
              </a:rPr>
              <a:t>→</a:t>
            </a:r>
            <a:endParaRPr lang="en-US" sz="1600" dirty="0"/>
          </a:p>
        </p:txBody>
      </p:sp>
      <p:sp>
        <p:nvSpPr>
          <p:cNvPr id="6" name="Text 4"/>
          <p:cNvSpPr/>
          <p:nvPr/>
        </p:nvSpPr>
        <p:spPr>
          <a:xfrm>
            <a:off x="8439912" y="2852928"/>
            <a:ext cx="201168" cy="109728"/>
          </a:xfrm>
          <a:prstGeom prst="rect">
            <a:avLst/>
          </a:prstGeom>
          <a:noFill/>
          <a:ln/>
        </p:spPr>
        <p:txBody>
          <a:bodyPr wrap="square" lIns="0" tIns="0" rIns="0" bIns="0" rtlCol="0" anchor="ctr"/>
          <a:lstStyle/>
          <a:p>
            <a:pPr marL="0" indent="0" algn="ctr">
              <a:buNone/>
            </a:pPr>
            <a:r>
              <a:rPr lang="en-US" sz="1600" b="1" dirty="0">
                <a:solidFill>
                  <a:srgbClr val="5B7CFA"/>
                </a:solidFill>
              </a:rPr>
              <a:t>→</a:t>
            </a:r>
            <a:endParaRPr lang="en-US" sz="1600" dirty="0"/>
          </a:p>
        </p:txBody>
      </p:sp>
      <p:sp>
        <p:nvSpPr>
          <p:cNvPr id="7" name="Shape 5"/>
          <p:cNvSpPr/>
          <p:nvPr/>
        </p:nvSpPr>
        <p:spPr>
          <a:xfrm>
            <a:off x="640080" y="2148840"/>
            <a:ext cx="2148840" cy="1783080"/>
          </a:xfrm>
          <a:prstGeom prst="roundRect">
            <a:avLst>
              <a:gd name="adj" fmla="val 4103"/>
            </a:avLst>
          </a:prstGeom>
          <a:solidFill>
            <a:srgbClr val="121A2E"/>
          </a:solidFill>
          <a:ln w="15240">
            <a:solidFill>
              <a:srgbClr val="5B7CFA"/>
            </a:solidFill>
            <a:prstDash val="solid"/>
          </a:ln>
        </p:spPr>
      </p:sp>
      <p:sp>
        <p:nvSpPr>
          <p:cNvPr id="8" name="Text 6"/>
          <p:cNvSpPr/>
          <p:nvPr/>
        </p:nvSpPr>
        <p:spPr>
          <a:xfrm>
            <a:off x="1353312" y="2331720"/>
            <a:ext cx="731520" cy="109728"/>
          </a:xfrm>
          <a:prstGeom prst="rect">
            <a:avLst/>
          </a:prstGeom>
          <a:noFill/>
          <a:ln/>
        </p:spPr>
        <p:txBody>
          <a:bodyPr wrap="square" lIns="0" tIns="0" rIns="0" bIns="0" rtlCol="0" anchor="ctr"/>
          <a:lstStyle/>
          <a:p>
            <a:pPr marL="0" indent="0" algn="ctr">
              <a:buNone/>
            </a:pPr>
            <a:r>
              <a:rPr lang="en-US" sz="1200" b="1" dirty="0">
                <a:solidFill>
                  <a:srgbClr val="F59E0B"/>
                </a:solidFill>
              </a:rPr>
              <a:t>Step 1</a:t>
            </a:r>
            <a:endParaRPr lang="en-US" sz="1200" dirty="0"/>
          </a:p>
        </p:txBody>
      </p:sp>
      <p:sp>
        <p:nvSpPr>
          <p:cNvPr id="9" name="Text 7"/>
          <p:cNvSpPr/>
          <p:nvPr/>
        </p:nvSpPr>
        <p:spPr>
          <a:xfrm>
            <a:off x="749808" y="2596896"/>
            <a:ext cx="1920240" cy="256032"/>
          </a:xfrm>
          <a:prstGeom prst="rect">
            <a:avLst/>
          </a:prstGeom>
          <a:noFill/>
          <a:ln/>
        </p:spPr>
        <p:txBody>
          <a:bodyPr wrap="square" lIns="0" tIns="0" rIns="0" bIns="0" rtlCol="0" anchor="ctr"/>
          <a:lstStyle/>
          <a:p>
            <a:pPr marL="0" indent="0" algn="ctr">
              <a:buNone/>
            </a:pPr>
            <a:r>
              <a:rPr lang="en-US" sz="1800" b="1" dirty="0">
                <a:solidFill>
                  <a:srgbClr val="FFFFFF"/>
                </a:solidFill>
              </a:rPr>
              <a:t>Convert uploads to MP4</a:t>
            </a:r>
            <a:endParaRPr lang="en-US" sz="1800" dirty="0"/>
          </a:p>
        </p:txBody>
      </p:sp>
      <p:sp>
        <p:nvSpPr>
          <p:cNvPr id="10" name="Text 8"/>
          <p:cNvSpPr/>
          <p:nvPr/>
        </p:nvSpPr>
        <p:spPr>
          <a:xfrm>
            <a:off x="749808" y="3154680"/>
            <a:ext cx="1920240" cy="310896"/>
          </a:xfrm>
          <a:prstGeom prst="rect">
            <a:avLst/>
          </a:prstGeom>
          <a:noFill/>
          <a:ln/>
        </p:spPr>
        <p:txBody>
          <a:bodyPr wrap="square" lIns="0" tIns="0" rIns="0" bIns="0" rtlCol="0" anchor="ctr"/>
          <a:lstStyle/>
          <a:p>
            <a:pPr marL="0" indent="0" algn="ctr">
              <a:buNone/>
            </a:pPr>
            <a:r>
              <a:rPr lang="en-US" sz="1230" dirty="0">
                <a:solidFill>
                  <a:srgbClr val="A8B2C8"/>
                </a:solidFill>
              </a:rPr>
              <a:t>Improve browser playback for AVI/MOV</a:t>
            </a:r>
            <a:endParaRPr lang="en-US" sz="1230" dirty="0"/>
          </a:p>
        </p:txBody>
      </p:sp>
      <p:sp>
        <p:nvSpPr>
          <p:cNvPr id="11" name="Shape 9"/>
          <p:cNvSpPr/>
          <p:nvPr/>
        </p:nvSpPr>
        <p:spPr>
          <a:xfrm>
            <a:off x="3429000" y="2148840"/>
            <a:ext cx="2148840" cy="1783080"/>
          </a:xfrm>
          <a:prstGeom prst="roundRect">
            <a:avLst>
              <a:gd name="adj" fmla="val 4103"/>
            </a:avLst>
          </a:prstGeom>
          <a:solidFill>
            <a:srgbClr val="16213D"/>
          </a:solidFill>
          <a:ln w="15240">
            <a:solidFill>
              <a:srgbClr val="5B7CFA"/>
            </a:solidFill>
            <a:prstDash val="solid"/>
          </a:ln>
        </p:spPr>
      </p:sp>
      <p:sp>
        <p:nvSpPr>
          <p:cNvPr id="12" name="Text 10"/>
          <p:cNvSpPr/>
          <p:nvPr/>
        </p:nvSpPr>
        <p:spPr>
          <a:xfrm>
            <a:off x="4142232" y="2331720"/>
            <a:ext cx="731520" cy="109728"/>
          </a:xfrm>
          <a:prstGeom prst="rect">
            <a:avLst/>
          </a:prstGeom>
          <a:noFill/>
          <a:ln/>
        </p:spPr>
        <p:txBody>
          <a:bodyPr wrap="square" lIns="0" tIns="0" rIns="0" bIns="0" rtlCol="0" anchor="ctr"/>
          <a:lstStyle/>
          <a:p>
            <a:pPr marL="0" indent="0" algn="ctr">
              <a:buNone/>
            </a:pPr>
            <a:r>
              <a:rPr lang="en-US" sz="1200" b="1" dirty="0">
                <a:solidFill>
                  <a:srgbClr val="F59E0B"/>
                </a:solidFill>
              </a:rPr>
              <a:t>Step 2</a:t>
            </a:r>
            <a:endParaRPr lang="en-US" sz="1200" dirty="0"/>
          </a:p>
        </p:txBody>
      </p:sp>
      <p:sp>
        <p:nvSpPr>
          <p:cNvPr id="13" name="Text 11"/>
          <p:cNvSpPr/>
          <p:nvPr/>
        </p:nvSpPr>
        <p:spPr>
          <a:xfrm>
            <a:off x="3538728" y="2596896"/>
            <a:ext cx="1920240" cy="256032"/>
          </a:xfrm>
          <a:prstGeom prst="rect">
            <a:avLst/>
          </a:prstGeom>
          <a:noFill/>
          <a:ln/>
        </p:spPr>
        <p:txBody>
          <a:bodyPr wrap="square" lIns="0" tIns="0" rIns="0" bIns="0" rtlCol="0" anchor="ctr"/>
          <a:lstStyle/>
          <a:p>
            <a:pPr marL="0" indent="0" algn="ctr">
              <a:buNone/>
            </a:pPr>
            <a:r>
              <a:rPr lang="en-US" sz="1800" b="1" dirty="0">
                <a:solidFill>
                  <a:srgbClr val="FFFFFF"/>
                </a:solidFill>
              </a:rPr>
              <a:t>Use person cropping</a:t>
            </a:r>
            <a:endParaRPr lang="en-US" sz="1800" dirty="0"/>
          </a:p>
        </p:txBody>
      </p:sp>
      <p:sp>
        <p:nvSpPr>
          <p:cNvPr id="14" name="Text 12"/>
          <p:cNvSpPr/>
          <p:nvPr/>
        </p:nvSpPr>
        <p:spPr>
          <a:xfrm>
            <a:off x="3538728" y="3154680"/>
            <a:ext cx="1920240" cy="310896"/>
          </a:xfrm>
          <a:prstGeom prst="rect">
            <a:avLst/>
          </a:prstGeom>
          <a:noFill/>
          <a:ln/>
        </p:spPr>
        <p:txBody>
          <a:bodyPr wrap="square" lIns="0" tIns="0" rIns="0" bIns="0" rtlCol="0" anchor="ctr"/>
          <a:lstStyle/>
          <a:p>
            <a:pPr marL="0" indent="0" algn="ctr">
              <a:buNone/>
            </a:pPr>
            <a:r>
              <a:rPr lang="en-US" sz="1230" dirty="0">
                <a:solidFill>
                  <a:srgbClr val="A8B2C8"/>
                </a:solidFill>
              </a:rPr>
              <a:t>Focus the model on the human body instead of background</a:t>
            </a:r>
            <a:endParaRPr lang="en-US" sz="1230" dirty="0"/>
          </a:p>
        </p:txBody>
      </p:sp>
      <p:sp>
        <p:nvSpPr>
          <p:cNvPr id="15" name="Shape 13"/>
          <p:cNvSpPr/>
          <p:nvPr/>
        </p:nvSpPr>
        <p:spPr>
          <a:xfrm>
            <a:off x="6217920" y="2148840"/>
            <a:ext cx="2148840" cy="1783080"/>
          </a:xfrm>
          <a:prstGeom prst="roundRect">
            <a:avLst>
              <a:gd name="adj" fmla="val 4103"/>
            </a:avLst>
          </a:prstGeom>
          <a:solidFill>
            <a:srgbClr val="121A2E"/>
          </a:solidFill>
          <a:ln w="15240">
            <a:solidFill>
              <a:srgbClr val="5B7CFA"/>
            </a:solidFill>
            <a:prstDash val="solid"/>
          </a:ln>
        </p:spPr>
      </p:sp>
      <p:sp>
        <p:nvSpPr>
          <p:cNvPr id="16" name="Text 14"/>
          <p:cNvSpPr/>
          <p:nvPr/>
        </p:nvSpPr>
        <p:spPr>
          <a:xfrm>
            <a:off x="6931152" y="2331720"/>
            <a:ext cx="731520" cy="109728"/>
          </a:xfrm>
          <a:prstGeom prst="rect">
            <a:avLst/>
          </a:prstGeom>
          <a:noFill/>
          <a:ln/>
        </p:spPr>
        <p:txBody>
          <a:bodyPr wrap="square" lIns="0" tIns="0" rIns="0" bIns="0" rtlCol="0" anchor="ctr"/>
          <a:lstStyle/>
          <a:p>
            <a:pPr marL="0" indent="0" algn="ctr">
              <a:buNone/>
            </a:pPr>
            <a:r>
              <a:rPr lang="en-US" sz="1200" b="1" dirty="0">
                <a:solidFill>
                  <a:srgbClr val="F59E0B"/>
                </a:solidFill>
              </a:rPr>
              <a:t>Step 3</a:t>
            </a:r>
            <a:endParaRPr lang="en-US" sz="1200" dirty="0"/>
          </a:p>
        </p:txBody>
      </p:sp>
      <p:sp>
        <p:nvSpPr>
          <p:cNvPr id="17" name="Text 15"/>
          <p:cNvSpPr/>
          <p:nvPr/>
        </p:nvSpPr>
        <p:spPr>
          <a:xfrm>
            <a:off x="6327648" y="2596896"/>
            <a:ext cx="1920240" cy="256032"/>
          </a:xfrm>
          <a:prstGeom prst="rect">
            <a:avLst/>
          </a:prstGeom>
          <a:noFill/>
          <a:ln/>
        </p:spPr>
        <p:txBody>
          <a:bodyPr wrap="square" lIns="0" tIns="0" rIns="0" bIns="0" rtlCol="0" anchor="ctr"/>
          <a:lstStyle/>
          <a:p>
            <a:pPr marL="0" indent="0" algn="ctr">
              <a:buNone/>
            </a:pPr>
            <a:r>
              <a:rPr lang="en-US" sz="1800" b="1" dirty="0">
                <a:solidFill>
                  <a:srgbClr val="FFFFFF"/>
                </a:solidFill>
              </a:rPr>
              <a:t>Increase training quality</a:t>
            </a:r>
            <a:endParaRPr lang="en-US" sz="1800" dirty="0"/>
          </a:p>
        </p:txBody>
      </p:sp>
      <p:sp>
        <p:nvSpPr>
          <p:cNvPr id="18" name="Text 16"/>
          <p:cNvSpPr/>
          <p:nvPr/>
        </p:nvSpPr>
        <p:spPr>
          <a:xfrm>
            <a:off x="6327648" y="3154680"/>
            <a:ext cx="1920240" cy="310896"/>
          </a:xfrm>
          <a:prstGeom prst="rect">
            <a:avLst/>
          </a:prstGeom>
          <a:noFill/>
          <a:ln/>
        </p:spPr>
        <p:txBody>
          <a:bodyPr wrap="square" lIns="0" tIns="0" rIns="0" bIns="0" rtlCol="0" anchor="ctr"/>
          <a:lstStyle/>
          <a:p>
            <a:pPr marL="0" indent="0" algn="ctr">
              <a:buNone/>
            </a:pPr>
            <a:r>
              <a:rPr lang="en-US" sz="1230" dirty="0">
                <a:solidFill>
                  <a:srgbClr val="A8B2C8"/>
                </a:solidFill>
              </a:rPr>
              <a:t>More frames, stronger model, balanced data</a:t>
            </a:r>
            <a:endParaRPr lang="en-US" sz="1230" dirty="0"/>
          </a:p>
        </p:txBody>
      </p:sp>
      <p:sp>
        <p:nvSpPr>
          <p:cNvPr id="19" name="Shape 17"/>
          <p:cNvSpPr/>
          <p:nvPr/>
        </p:nvSpPr>
        <p:spPr>
          <a:xfrm>
            <a:off x="9006840" y="2148840"/>
            <a:ext cx="2148840" cy="1783080"/>
          </a:xfrm>
          <a:prstGeom prst="roundRect">
            <a:avLst>
              <a:gd name="adj" fmla="val 4103"/>
            </a:avLst>
          </a:prstGeom>
          <a:solidFill>
            <a:srgbClr val="16213D"/>
          </a:solidFill>
          <a:ln w="15240">
            <a:solidFill>
              <a:srgbClr val="22C55E"/>
            </a:solidFill>
            <a:prstDash val="solid"/>
          </a:ln>
        </p:spPr>
      </p:sp>
      <p:sp>
        <p:nvSpPr>
          <p:cNvPr id="20" name="Text 18"/>
          <p:cNvSpPr/>
          <p:nvPr/>
        </p:nvSpPr>
        <p:spPr>
          <a:xfrm>
            <a:off x="9720072" y="2331720"/>
            <a:ext cx="731520" cy="109728"/>
          </a:xfrm>
          <a:prstGeom prst="rect">
            <a:avLst/>
          </a:prstGeom>
          <a:noFill/>
          <a:ln/>
        </p:spPr>
        <p:txBody>
          <a:bodyPr wrap="square" lIns="0" tIns="0" rIns="0" bIns="0" rtlCol="0" anchor="ctr"/>
          <a:lstStyle/>
          <a:p>
            <a:pPr marL="0" indent="0" algn="ctr">
              <a:buNone/>
            </a:pPr>
            <a:r>
              <a:rPr lang="en-US" sz="1200" b="1" dirty="0">
                <a:solidFill>
                  <a:srgbClr val="F59E0B"/>
                </a:solidFill>
              </a:rPr>
              <a:t>Step 4</a:t>
            </a:r>
            <a:endParaRPr lang="en-US" sz="1200" dirty="0"/>
          </a:p>
        </p:txBody>
      </p:sp>
      <p:sp>
        <p:nvSpPr>
          <p:cNvPr id="21" name="Text 19"/>
          <p:cNvSpPr/>
          <p:nvPr/>
        </p:nvSpPr>
        <p:spPr>
          <a:xfrm>
            <a:off x="9116568" y="2596896"/>
            <a:ext cx="1920240" cy="256032"/>
          </a:xfrm>
          <a:prstGeom prst="rect">
            <a:avLst/>
          </a:prstGeom>
          <a:noFill/>
          <a:ln/>
        </p:spPr>
        <p:txBody>
          <a:bodyPr wrap="square" lIns="0" tIns="0" rIns="0" bIns="0" rtlCol="0" anchor="ctr"/>
          <a:lstStyle/>
          <a:p>
            <a:pPr marL="0" indent="0" algn="ctr">
              <a:buNone/>
            </a:pPr>
            <a:r>
              <a:rPr lang="en-US" sz="1800" b="1" dirty="0">
                <a:solidFill>
                  <a:srgbClr val="FFFFFF"/>
                </a:solidFill>
              </a:rPr>
              <a:t>Test on more videos</a:t>
            </a:r>
            <a:endParaRPr lang="en-US" sz="1800" dirty="0"/>
          </a:p>
        </p:txBody>
      </p:sp>
      <p:sp>
        <p:nvSpPr>
          <p:cNvPr id="22" name="Text 20"/>
          <p:cNvSpPr/>
          <p:nvPr/>
        </p:nvSpPr>
        <p:spPr>
          <a:xfrm>
            <a:off x="9116568" y="3154680"/>
            <a:ext cx="1920240" cy="310896"/>
          </a:xfrm>
          <a:prstGeom prst="rect">
            <a:avLst/>
          </a:prstGeom>
          <a:noFill/>
          <a:ln/>
        </p:spPr>
        <p:txBody>
          <a:bodyPr wrap="square" lIns="0" tIns="0" rIns="0" bIns="0" rtlCol="0" anchor="ctr"/>
          <a:lstStyle/>
          <a:p>
            <a:pPr marL="0" indent="0" algn="ctr">
              <a:buNone/>
            </a:pPr>
            <a:r>
              <a:rPr lang="en-US" sz="1230" dirty="0">
                <a:solidFill>
                  <a:srgbClr val="A8B2C8"/>
                </a:solidFill>
              </a:rPr>
              <a:t>Collect examples closer to real use cases</a:t>
            </a:r>
            <a:endParaRPr lang="en-US" sz="1230" dirty="0"/>
          </a:p>
        </p:txBody>
      </p:sp>
      <p:sp>
        <p:nvSpPr>
          <p:cNvPr id="25" name="Slide Number Placeholder 0"/>
          <p:cNvSpPr>
            <a:spLocks noGrp="1"/>
          </p:cNvSpPr>
          <p:nvPr>
            <p:ph type="sldNum" sz="quarter" idx="4294967295"/>
          </p:nvPr>
        </p:nvSpPr>
        <p:spPr>
          <a:xfrm>
            <a:off x="11795760" y="6446520"/>
            <a:ext cx="22860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9AA7C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03AA30-148B-3685-21EC-831A274233E4}"/>
              </a:ext>
            </a:extLst>
          </p:cNvPr>
          <p:cNvSpPr txBox="1"/>
          <p:nvPr/>
        </p:nvSpPr>
        <p:spPr>
          <a:xfrm>
            <a:off x="475861" y="847380"/>
            <a:ext cx="9377265" cy="4991559"/>
          </a:xfrm>
          <a:prstGeom prst="rect">
            <a:avLst/>
          </a:prstGeom>
          <a:noFill/>
        </p:spPr>
        <p:txBody>
          <a:bodyPr wrap="square">
            <a:spAutoFit/>
          </a:bodyPr>
          <a:lstStyle/>
          <a:p>
            <a:pPr marL="0" indent="0">
              <a:lnSpc>
                <a:spcPts val="5468"/>
              </a:lnSpc>
              <a:buNone/>
            </a:pPr>
            <a:r>
              <a:rPr lang="en-US" sz="2800" b="1" u="sng" dirty="0">
                <a:solidFill>
                  <a:schemeClr val="bg1"/>
                </a:solidFill>
                <a:latin typeface="p22-mackinac-pro" pitchFamily="34" charset="0"/>
                <a:ea typeface="p22-mackinac-pro" pitchFamily="34" charset="-122"/>
                <a:cs typeface="p22-mackinac-pro" pitchFamily="34" charset="-120"/>
              </a:rPr>
              <a:t>References</a:t>
            </a:r>
          </a:p>
          <a:p>
            <a:pPr algn="just">
              <a:lnSpc>
                <a:spcPct val="150000"/>
              </a:lnSpc>
            </a:pPr>
            <a:r>
              <a:rPr lang="en-US" sz="1200" dirty="0">
                <a:solidFill>
                  <a:schemeClr val="bg1"/>
                </a:solidFill>
                <a:ea typeface="Eudoxus Sans" pitchFamily="34" charset="-122"/>
                <a:cs typeface="Eudoxus Sans" pitchFamily="34" charset="-120"/>
              </a:rPr>
              <a:t>Wang, Z., Hu, R., Chen, C. et al. (2016) “Person re-identification by discriminative selection in video ranking”. IEEE Trans. Cir. and Sys. for Video Technol.</a:t>
            </a:r>
          </a:p>
          <a:p>
            <a:pPr algn="just">
              <a:lnSpc>
                <a:spcPct val="150000"/>
              </a:lnSpc>
            </a:pPr>
            <a:endParaRPr lang="en-US" sz="1200" dirty="0">
              <a:solidFill>
                <a:schemeClr val="bg1"/>
              </a:solidFill>
              <a:ea typeface="Eudoxus Sans" pitchFamily="34" charset="-122"/>
              <a:cs typeface="Eudoxus Sans" pitchFamily="34" charset="-120"/>
            </a:endParaRPr>
          </a:p>
          <a:p>
            <a:pPr algn="just">
              <a:lnSpc>
                <a:spcPct val="150000"/>
              </a:lnSpc>
            </a:pPr>
            <a:r>
              <a:rPr lang="en-US" sz="1200" dirty="0">
                <a:solidFill>
                  <a:schemeClr val="bg1"/>
                </a:solidFill>
                <a:ea typeface="Eudoxus Sans" pitchFamily="34" charset="-122"/>
                <a:cs typeface="Eudoxus Sans" pitchFamily="34" charset="-120"/>
              </a:rPr>
              <a:t>Chung, P.C., Liu, C.D. (2008) :”A daily behavior enabled hidden Markov model for human identity recognition”. IEEE Trans. Autom. Sci. Eng. 5, 257–272</a:t>
            </a:r>
          </a:p>
          <a:p>
            <a:pPr>
              <a:lnSpc>
                <a:spcPct val="150000"/>
              </a:lnSpc>
            </a:pPr>
            <a:endParaRPr lang="en-IN" sz="1200" dirty="0">
              <a:solidFill>
                <a:schemeClr val="bg1"/>
              </a:solidFill>
            </a:endParaRPr>
          </a:p>
          <a:p>
            <a:pPr>
              <a:lnSpc>
                <a:spcPct val="150000"/>
              </a:lnSpc>
            </a:pPr>
            <a:r>
              <a:rPr lang="en-IN" sz="1400" dirty="0">
                <a:solidFill>
                  <a:schemeClr val="bg1"/>
                </a:solidFill>
              </a:rPr>
              <a:t>C. Cui et al., "Simultaneous recognition and assessment of post-stroke hemiparetic gait by fusing kinematic, kinetic, and electrophysiological data," IEEE Trans. Neural Syst. </a:t>
            </a:r>
            <a:r>
              <a:rPr lang="en-IN" sz="1400" dirty="0" err="1">
                <a:solidFill>
                  <a:schemeClr val="bg1"/>
                </a:solidFill>
              </a:rPr>
              <a:t>Rehabil</a:t>
            </a:r>
            <a:r>
              <a:rPr lang="en-IN" sz="1400" dirty="0">
                <a:solidFill>
                  <a:schemeClr val="bg1"/>
                </a:solidFill>
              </a:rPr>
              <a:t>. Eng., vol. 26, no. 4, pp. 856–864, 2018. </a:t>
            </a:r>
          </a:p>
          <a:p>
            <a:pPr>
              <a:lnSpc>
                <a:spcPct val="150000"/>
              </a:lnSpc>
            </a:pPr>
            <a:endParaRPr lang="en-IN" sz="1400" dirty="0">
              <a:solidFill>
                <a:schemeClr val="bg1"/>
              </a:solidFill>
            </a:endParaRPr>
          </a:p>
          <a:p>
            <a:pPr>
              <a:lnSpc>
                <a:spcPct val="150000"/>
              </a:lnSpc>
            </a:pPr>
            <a:r>
              <a:rPr lang="en-IN" sz="1400" dirty="0">
                <a:solidFill>
                  <a:schemeClr val="bg1"/>
                </a:solidFill>
              </a:rPr>
              <a:t>[23] </a:t>
            </a:r>
            <a:r>
              <a:rPr lang="en-IN" sz="1400" dirty="0" err="1">
                <a:solidFill>
                  <a:schemeClr val="bg1"/>
                </a:solidFill>
              </a:rPr>
              <a:t>Thamaraimanalan</a:t>
            </a:r>
            <a:r>
              <a:rPr lang="en-IN" sz="1400" dirty="0">
                <a:solidFill>
                  <a:schemeClr val="bg1"/>
                </a:solidFill>
              </a:rPr>
              <a:t> T, Anandakumar </a:t>
            </a:r>
            <a:r>
              <a:rPr lang="en-IN" sz="1400" dirty="0" err="1">
                <a:solidFill>
                  <a:schemeClr val="bg1"/>
                </a:solidFill>
              </a:rPr>
              <a:t>Haldorai</a:t>
            </a:r>
            <a:r>
              <a:rPr lang="en-IN" sz="1400" dirty="0">
                <a:solidFill>
                  <a:schemeClr val="bg1"/>
                </a:solidFill>
              </a:rPr>
              <a:t>, Suresh G and Archana Sasi, “Hybrid Machine Learning Methodology for Real Time Quality of Service Prediction and Ideal Spectrum Selection in CRNs”, Journal of Machine and Computing 5(2), ISSN: 2788–7669, 2025 </a:t>
            </a:r>
          </a:p>
          <a:p>
            <a:pPr algn="just">
              <a:lnSpc>
                <a:spcPts val="5468"/>
              </a:lnSpc>
            </a:pPr>
            <a:endParaRPr lang="en-US" u="sng" dirty="0">
              <a:solidFill>
                <a:schemeClr val="bg1"/>
              </a:solidFill>
            </a:endParaRPr>
          </a:p>
        </p:txBody>
      </p:sp>
    </p:spTree>
    <p:extLst>
      <p:ext uri="{BB962C8B-B14F-4D97-AF65-F5344CB8AC3E}">
        <p14:creationId xmlns:p14="http://schemas.microsoft.com/office/powerpoint/2010/main" val="442543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4C7042-D748-0484-F4A8-A2FFCE577091}"/>
              </a:ext>
            </a:extLst>
          </p:cNvPr>
          <p:cNvSpPr txBox="1"/>
          <p:nvPr/>
        </p:nvSpPr>
        <p:spPr>
          <a:xfrm>
            <a:off x="1362269" y="307912"/>
            <a:ext cx="7959012" cy="6007863"/>
          </a:xfrm>
          <a:prstGeom prst="rect">
            <a:avLst/>
          </a:prstGeom>
          <a:noFill/>
        </p:spPr>
        <p:txBody>
          <a:bodyPr wrap="square">
            <a:spAutoFit/>
          </a:bodyPr>
          <a:lstStyle/>
          <a:p>
            <a:pPr algn="ctr">
              <a:lnSpc>
                <a:spcPct val="150000"/>
              </a:lnSpc>
              <a:buNone/>
            </a:pPr>
            <a:r>
              <a:rPr lang="en-US" sz="2400" b="1" u="sng" dirty="0">
                <a:solidFill>
                  <a:schemeClr val="bg1"/>
                </a:solidFill>
              </a:rPr>
              <a:t>CONCLUSION</a:t>
            </a:r>
          </a:p>
          <a:p>
            <a:pPr>
              <a:lnSpc>
                <a:spcPct val="150000"/>
              </a:lnSpc>
              <a:buNone/>
            </a:pPr>
            <a:r>
              <a:rPr lang="en-US" dirty="0">
                <a:solidFill>
                  <a:schemeClr val="bg1"/>
                </a:solidFill>
              </a:rPr>
              <a:t>The Human Action Recognition System demonstrates how artificial intelligence and computer vision can be effectively used to automatically identify human activities from video input. The system processes videos by extracting frames, preprocessing them, and using a trained model to accurately predict the action performed. It reduces manual effort, saves time, and improves accuracy compared to traditional methods. The integration of a web-based interface makes the system easy to use and suitable for real-world applications such as surveillance, healthcare monitoring, and smart security systems. Overall, this project highlights the practical implementation of AI in solving real-life problems, and it can be further enhanced for real-time detection and more advanced functionalities in the future.</a:t>
            </a:r>
          </a:p>
          <a:p>
            <a:pPr>
              <a:lnSpc>
                <a:spcPct val="150000"/>
              </a:lnSpc>
              <a:buNone/>
            </a:pPr>
            <a:r>
              <a:rPr lang="en-US" b="1" dirty="0" err="1">
                <a:solidFill>
                  <a:schemeClr val="bg1"/>
                </a:solidFill>
              </a:rPr>
              <a:t>Github</a:t>
            </a:r>
            <a:r>
              <a:rPr lang="en-US" b="1" dirty="0">
                <a:solidFill>
                  <a:schemeClr val="bg1"/>
                </a:solidFill>
              </a:rPr>
              <a:t> Link: -</a:t>
            </a:r>
          </a:p>
          <a:p>
            <a:pPr>
              <a:lnSpc>
                <a:spcPct val="150000"/>
              </a:lnSpc>
              <a:buNone/>
            </a:pPr>
            <a:r>
              <a:rPr lang="en-US" dirty="0">
                <a:solidFill>
                  <a:schemeClr val="bg1"/>
                </a:solidFill>
                <a:hlinkClick r:id="rId2"/>
              </a:rPr>
              <a:t>https://github.com/Anandcvv05/human-activity-recognition-project.git</a:t>
            </a:r>
            <a:endParaRPr lang="en-US" dirty="0">
              <a:solidFill>
                <a:schemeClr val="bg1"/>
              </a:solidFill>
            </a:endParaRPr>
          </a:p>
        </p:txBody>
      </p:sp>
    </p:spTree>
    <p:extLst>
      <p:ext uri="{BB962C8B-B14F-4D97-AF65-F5344CB8AC3E}">
        <p14:creationId xmlns:p14="http://schemas.microsoft.com/office/powerpoint/2010/main" val="4443599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TotalTime>
  <Words>1563</Words>
  <Application>Microsoft Office PowerPoint</Application>
  <PresentationFormat>Widescreen</PresentationFormat>
  <Paragraphs>216</Paragraphs>
  <Slides>13</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Arial</vt:lpstr>
      <vt:lpstr>Courier New</vt:lpstr>
      <vt:lpstr>Eudoxus Sans</vt:lpstr>
      <vt:lpstr>p22-mackinac-pro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Action Recognition Project Summary</dc:title>
  <dc:subject>Project progress presentation</dc:subject>
  <dc:creator>OpenAI</dc:creator>
  <cp:lastModifiedBy>Anand Cvv</cp:lastModifiedBy>
  <cp:revision>8</cp:revision>
  <dcterms:created xsi:type="dcterms:W3CDTF">2026-04-08T13:40:44Z</dcterms:created>
  <dcterms:modified xsi:type="dcterms:W3CDTF">2026-04-09T05:42:44Z</dcterms:modified>
</cp:coreProperties>
</file>